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6" r:id="rId6"/>
    <p:sldId id="269" r:id="rId7"/>
    <p:sldId id="259" r:id="rId8"/>
    <p:sldId id="260" r:id="rId9"/>
    <p:sldId id="272" r:id="rId10"/>
    <p:sldId id="270" r:id="rId11"/>
    <p:sldId id="273" r:id="rId12"/>
    <p:sldId id="274" r:id="rId13"/>
    <p:sldId id="267" r:id="rId14"/>
    <p:sldId id="263" r:id="rId15"/>
    <p:sldId id="271" r:id="rId16"/>
    <p:sldId id="275" r:id="rId17"/>
    <p:sldId id="264" r:id="rId18"/>
    <p:sldId id="268" r:id="rId19"/>
    <p:sldId id="265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350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310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36457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jpe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16.jpe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hyperlink" Target="https://github.com/Kim-gami/i_care_project" TargetMode="External"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0">
            <a:off x="12115800" y="511668"/>
            <a:ext cx="9263699" cy="9263662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5271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11339251" y="-264898"/>
            <a:ext cx="10816796" cy="1081679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0">
            <a:off x="12115800" y="511668"/>
            <a:ext cx="9263699" cy="9263662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 rotWithShape="1">
              <a:blip r:embed="rId3">
                <a:alphaModFix amt="18000"/>
              </a:blip>
              <a:stretch>
                <a:fillRect l="-22990" r="-2299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79549" y="3010320"/>
            <a:ext cx="8574050" cy="281897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11094"/>
              </a:lnSpc>
              <a:spcBef>
                <a:spcPct val="0"/>
              </a:spcBef>
              <a:defRPr/>
            </a:pPr>
            <a:r>
              <a:rPr lang="ko-KR" altLang="en-US" sz="7924" u="none" strike="noStrike" spc="-150">
                <a:solidFill>
                  <a:srgbClr val="12127d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영유아 위험 감지</a:t>
            </a:r>
            <a:endParaRPr lang="ko-KR" altLang="en-US" sz="7924" u="none" strike="noStrike" spc="-150">
              <a:solidFill>
                <a:srgbClr val="12127d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  <a:p>
            <a:pPr marL="0" lvl="0" indent="0" algn="l">
              <a:lnSpc>
                <a:spcPts val="11094"/>
              </a:lnSpc>
              <a:spcBef>
                <a:spcPct val="0"/>
              </a:spcBef>
              <a:defRPr/>
            </a:pPr>
            <a:r>
              <a:rPr lang="ko-KR" altLang="en-US" sz="7924" u="none" strike="noStrike" spc="-150">
                <a:solidFill>
                  <a:srgbClr val="12127d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알림 서비스</a:t>
            </a:r>
            <a:endParaRPr lang="ko-KR" altLang="en-US" sz="7924" u="none" strike="noStrike" spc="-150">
              <a:solidFill>
                <a:srgbClr val="12127d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10005" y="2250427"/>
            <a:ext cx="8574050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en-US" altLang="ko-KR">
              <a:latin typeface="한컴 윤고딕 760"/>
              <a:ea typeface="한컴 윤고딕 76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5833" y="6867499"/>
            <a:ext cx="6450366" cy="14002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695"/>
              </a:lnSpc>
              <a:defRPr/>
            </a:pPr>
            <a:r>
              <a:rPr lang="en-US" altLang="ko-KR" sz="2566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Team 3</a:t>
            </a:r>
            <a:r>
              <a:rPr lang="ko-KR" altLang="en-US" sz="2566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조 </a:t>
            </a:r>
            <a:r>
              <a:rPr lang="en-US" altLang="ko-KR" sz="2566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-</a:t>
            </a:r>
            <a:r>
              <a:rPr lang="ko-KR" altLang="en-US" sz="2566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 아이케어</a:t>
            </a:r>
            <a:endParaRPr lang="ko-KR" altLang="en-US" sz="2566" b="1" spc="138">
              <a:solidFill>
                <a:schemeClr val="dk1"/>
              </a:solidFill>
              <a:latin typeface="한컴 윤고딕 740"/>
              <a:ea typeface="한컴 윤고딕 740"/>
              <a:cs typeface="Helios Bold"/>
              <a:sym typeface="Helios Bold"/>
            </a:endParaRPr>
          </a:p>
          <a:p>
            <a:pPr marL="0" lvl="0" indent="0" algn="l">
              <a:lnSpc>
                <a:spcPts val="3695"/>
              </a:lnSpc>
              <a:defRPr/>
            </a:pPr>
            <a:endParaRPr lang="ko-KR" altLang="en-US" sz="2566" b="1" spc="138">
              <a:solidFill>
                <a:schemeClr val="dk1"/>
              </a:solidFill>
              <a:latin typeface="한컴 윤고딕 740"/>
              <a:ea typeface="한컴 윤고딕 740"/>
              <a:cs typeface="Helios Bold"/>
              <a:sym typeface="Helios Bold"/>
            </a:endParaRPr>
          </a:p>
          <a:p>
            <a:pPr marL="0" lvl="0" indent="0" algn="l">
              <a:lnSpc>
                <a:spcPts val="3695"/>
              </a:lnSpc>
              <a:defRPr/>
            </a:pPr>
            <a:r>
              <a:rPr lang="ko-KR" altLang="en-US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김현겸</a:t>
            </a:r>
            <a:r>
              <a:rPr lang="en-US" altLang="ko-KR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,</a:t>
            </a:r>
            <a:r>
              <a:rPr lang="ko-KR" altLang="en-US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 김현중</a:t>
            </a:r>
            <a:r>
              <a:rPr lang="en-US" altLang="ko-KR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,</a:t>
            </a:r>
            <a:r>
              <a:rPr lang="ko-KR" altLang="en-US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 김상원</a:t>
            </a:r>
            <a:r>
              <a:rPr lang="en-US" altLang="ko-KR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,</a:t>
            </a:r>
            <a:r>
              <a:rPr lang="ko-KR" altLang="en-US" sz="2000" b="1" spc="138">
                <a:solidFill>
                  <a:schemeClr val="dk1"/>
                </a:solidFill>
                <a:latin typeface="한컴 윤고딕 740"/>
                <a:ea typeface="한컴 윤고딕 740"/>
                <a:cs typeface="Helios Bold"/>
                <a:sym typeface="Helios Bold"/>
              </a:rPr>
              <a:t> 박철범</a:t>
            </a:r>
            <a:endParaRPr lang="ko-KR" altLang="en-US" sz="2000" b="1" spc="138">
              <a:solidFill>
                <a:schemeClr val="dk1"/>
              </a:solidFill>
              <a:latin typeface="한컴 윤고딕 740"/>
              <a:ea typeface="한컴 윤고딕 740"/>
              <a:cs typeface="Helios Bold"/>
              <a:sym typeface="Helio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9053" y="1731007"/>
            <a:ext cx="4408975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just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2800" b="1" spc="234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altLang="ko-KR" sz="2800" b="1" spc="234">
              <a:solidFill>
                <a:srgbClr val="5371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13" name="Google Shape;86;p1"/>
          <p:cNvSpPr/>
          <p:nvPr/>
        </p:nvSpPr>
        <p:spPr>
          <a:xfrm>
            <a:off x="1357675" y="9410700"/>
            <a:ext cx="3519125" cy="457199"/>
          </a:xfrm>
          <a:custGeom>
            <a:avLst/>
            <a:gdLst/>
            <a:rect l="l" t="t" r="r" b="b"/>
            <a:pathLst>
              <a:path w="3900125" h="611518" extrusionOk="0">
                <a:moveTo>
                  <a:pt x="0" y="0"/>
                </a:moveTo>
                <a:lnTo>
                  <a:pt x="3900125" y="0"/>
                </a:lnTo>
                <a:lnTo>
                  <a:pt x="3900125" y="611517"/>
                </a:lnTo>
                <a:lnTo>
                  <a:pt x="0" y="6115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290702" y="2392082"/>
            <a:ext cx="8574050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6440487" y="1085499"/>
            <a:ext cx="8210778" cy="8210745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5271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7128772" y="397198"/>
            <a:ext cx="9587348" cy="95873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5271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6718762" y="4281587"/>
            <a:ext cx="4763" cy="2815098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353800" y="4281579"/>
            <a:ext cx="0" cy="3059317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ko-KR" altLang="en-US">
              <a:latin typeface="한컴 윤고딕 760"/>
              <a:ea typeface="한컴 윤고딕 760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6304440" y="3779512"/>
            <a:ext cx="833407" cy="833407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0932334" y="5143500"/>
            <a:ext cx="833407" cy="833407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0932334" y="3798554"/>
            <a:ext cx="833407" cy="833407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6304440" y="5143500"/>
            <a:ext cx="833407" cy="83340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0932334" y="6507488"/>
            <a:ext cx="833407" cy="833407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6304440" y="6507488"/>
            <a:ext cx="833407" cy="833407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437577" y="4014206"/>
            <a:ext cx="567133" cy="3356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01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65471" y="5378193"/>
            <a:ext cx="567133" cy="33369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05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065471" y="4033247"/>
            <a:ext cx="567133" cy="3356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04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37577" y="5378193"/>
            <a:ext cx="567133" cy="33369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02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65471" y="6742181"/>
            <a:ext cx="567133" cy="3413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06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28182" y="3979038"/>
            <a:ext cx="2872556" cy="4279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056076" y="5343025"/>
            <a:ext cx="4403124" cy="419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056076" y="3979038"/>
            <a:ext cx="4784124" cy="4215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414444" y="5324475"/>
            <a:ext cx="3024956" cy="4286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056076" y="6707013"/>
            <a:ext cx="4326924" cy="4272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437577" y="6742181"/>
            <a:ext cx="567133" cy="3413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2716"/>
              </a:lnSpc>
              <a:spcBef>
                <a:spcPct val="0"/>
              </a:spcBef>
              <a:defRPr/>
            </a:pPr>
            <a:r>
              <a:rPr lang="en-US" sz="2263" b="1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03</a:t>
            </a:r>
            <a:endParaRPr lang="en-US" sz="2263" b="1">
              <a:solidFill>
                <a:srgbClr val="ffffff"/>
              </a:solidFill>
              <a:latin typeface="한컴 윤고딕 760"/>
              <a:ea typeface="한컴 윤고딕 760"/>
              <a:cs typeface="Arita Dotum Bold"/>
              <a:sym typeface="Arita Dotum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28182" y="6707013"/>
            <a:ext cx="3316018" cy="4272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ko-KR" altLang="en-US" sz="2400">
                <a:solidFill>
                  <a:srgbClr val="0d0d50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2400">
              <a:solidFill>
                <a:srgbClr val="0d0d50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290702" y="1482445"/>
            <a:ext cx="3145216" cy="3714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12127d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목차</a:t>
            </a:r>
            <a:endParaRPr lang="en-US" sz="3200">
              <a:solidFill>
                <a:srgbClr val="12127d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503991"/>
            <a:chOff x="0" y="-57150"/>
            <a:chExt cx="961876" cy="27664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09043" y="2200016"/>
            <a:ext cx="3257588" cy="1047282"/>
            <a:chOff x="0" y="-57150"/>
            <a:chExt cx="857965" cy="2758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3269834" y="2745255"/>
            <a:ext cx="173797" cy="173797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201400" y="3848100"/>
            <a:ext cx="6324600" cy="2590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42720" lvl="0" indent="-34272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24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한국소비자원의 &lt;2024년 어린이 안전사고 동향 분석&gt; 보고서</a:t>
            </a:r>
            <a:r>
              <a:rPr lang="ko-KR" altLang="en-US" sz="24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 → </a:t>
            </a:r>
            <a:r>
              <a:rPr lang="en-US" sz="2400" b="1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영아기(0세) 안전사고</a:t>
            </a:r>
            <a:r>
              <a:rPr lang="en-US" sz="24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 </a:t>
            </a:r>
            <a:r>
              <a:rPr lang="en-US" sz="2400" b="1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매년 1.3%p씩 증가</a:t>
            </a:r>
            <a:r>
              <a:rPr lang="en-US" sz="24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하는 추세. </a:t>
            </a:r>
            <a:endParaRPr lang="en-US" sz="24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endParaRPr lang="en-US" sz="24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342720" lvl="0" indent="-34272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24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아기의 수면 환경에 예측 불가능한 위험 있음을 명확히 보여줌.</a:t>
            </a:r>
            <a:endParaRPr lang="en-US" sz="24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</p:txBody>
      </p:sp>
      <p:sp>
        <p:nvSpPr>
          <p:cNvPr name="AutoShape 31" id="31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32" name="TextBox 32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개발 배경</a:t>
            </a:r>
            <a:endParaRPr lang="ko-KR" altLang="en-US" sz="3999">
              <a:solidFill>
                <a:srgbClr val="12127d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"/>
          <a:srcRect t="19630" b="22590"/>
          <a:stretch>
            <a:fillRect/>
          </a:stretch>
        </p:blipFill>
        <p:spPr>
          <a:xfrm>
            <a:off x="4648200" y="2501900"/>
            <a:ext cx="6096000" cy="5283200"/>
          </a:xfrm>
          <a:prstGeom prst="rect">
            <a:avLst/>
          </a:prstGeom>
        </p:spPr>
      </p:pic>
      <p:grpSp>
        <p:nvGrpSpPr>
          <p:cNvPr id="35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36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37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38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391400" y="4000500"/>
            <a:ext cx="152400" cy="304800"/>
          </a:xfrm>
          <a:prstGeom prst="rect">
            <a:avLst/>
          </a:prstGeom>
          <a:solidFill>
            <a:srgbClr val="f4ecd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8229600" y="5143500"/>
            <a:ext cx="152400" cy="228600"/>
          </a:xfrm>
          <a:prstGeom prst="rect">
            <a:avLst/>
          </a:prstGeom>
          <a:solidFill>
            <a:srgbClr val="f4ecdf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8229600" y="6896100"/>
            <a:ext cx="990600" cy="45720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2" name="가로 글상자 41"/>
          <p:cNvSpPr txBox="1"/>
          <p:nvPr/>
        </p:nvSpPr>
        <p:spPr>
          <a:xfrm>
            <a:off x="8153399" y="6859905"/>
            <a:ext cx="1224916" cy="4438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2300" b="1">
                <a:solidFill>
                  <a:srgbClr val="1b3650"/>
                </a:solidFill>
                <a:latin typeface="한컴 윤고딕 250"/>
                <a:ea typeface="한컴 윤고딕 250"/>
              </a:rPr>
              <a:t>41.6%</a:t>
            </a:r>
            <a:endParaRPr lang="en-US" altLang="ko-KR" sz="2300" b="1">
              <a:solidFill>
                <a:srgbClr val="1b3650"/>
              </a:solidFill>
              <a:latin typeface="한컴 윤고딕 250"/>
              <a:ea typeface="한컴 윤고딕 250"/>
            </a:endParaRPr>
          </a:p>
        </p:txBody>
      </p:sp>
      <p:sp>
        <p:nvSpPr>
          <p:cNvPr id="44" name="가로 글상자 43"/>
          <p:cNvSpPr txBox="1"/>
          <p:nvPr/>
        </p:nvSpPr>
        <p:spPr>
          <a:xfrm>
            <a:off x="7299960" y="3659505"/>
            <a:ext cx="401954" cy="57721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3200">
                <a:latin typeface="한컴 윤고딕 250"/>
                <a:ea typeface="한컴 윤고딕 250"/>
              </a:rPr>
              <a:t>.</a:t>
            </a:r>
            <a:endParaRPr lang="en-US" altLang="ko-KR" sz="3200">
              <a:latin typeface="한컴 윤고딕 250"/>
              <a:ea typeface="한컴 윤고딕 250"/>
            </a:endParaRPr>
          </a:p>
        </p:txBody>
      </p:sp>
      <p:sp>
        <p:nvSpPr>
          <p:cNvPr id="45" name="가로 글상자 44"/>
          <p:cNvSpPr txBox="1"/>
          <p:nvPr/>
        </p:nvSpPr>
        <p:spPr>
          <a:xfrm>
            <a:off x="8138160" y="4802505"/>
            <a:ext cx="396240" cy="577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>
                <a:latin typeface="한컴 윤고딕 250"/>
                <a:ea typeface="한컴 윤고딕 250"/>
              </a:rPr>
              <a:t>.</a:t>
            </a:r>
            <a:endParaRPr lang="en-US" altLang="ko-KR" sz="3200">
              <a:latin typeface="한컴 윤고딕 250"/>
              <a:ea typeface="한컴 윤고딕 250"/>
            </a:endParaRPr>
          </a:p>
        </p:txBody>
      </p:sp>
      <p:grpSp>
        <p:nvGrpSpPr>
          <p:cNvPr id="46" name="그룹 4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4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48" name="그래픽 2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49" name="직사각형 48"/>
          <p:cNvSpPr/>
          <p:nvPr/>
        </p:nvSpPr>
        <p:spPr>
          <a:xfrm>
            <a:off x="5486400" y="5143500"/>
            <a:ext cx="609600" cy="609600"/>
          </a:xfrm>
          <a:prstGeom prst="rect">
            <a:avLst/>
          </a:prstGeom>
          <a:solidFill>
            <a:srgbClr val="14304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5501427" y="3487125"/>
            <a:ext cx="2732056" cy="3156787"/>
          </a:xfrm>
          <a:custGeom>
            <a:avLst/>
            <a:gdLst/>
            <a:rect l="l" t="t" r="r" b="b"/>
            <a:pathLst>
              <a:path w="2732056" h="3156787">
                <a:moveTo>
                  <a:pt x="0" y="0"/>
                </a:moveTo>
                <a:lnTo>
                  <a:pt x="2732056" y="0"/>
                </a:lnTo>
                <a:lnTo>
                  <a:pt x="2732056" y="3156787"/>
                </a:lnTo>
                <a:lnTo>
                  <a:pt x="0" y="3156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839200" y="3019062"/>
            <a:ext cx="8763000" cy="38770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400" b="1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기존 기술의 한계: 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기존 영유아 안전 기술은 자세 감지에 초점을 맞</a:t>
            </a:r>
            <a:r>
              <a:rPr lang="ko-KR" alt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춰 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실제 호흡 위험(질식)은 감지하지 못하는 명백한 한계를 가</a:t>
            </a:r>
            <a:r>
              <a:rPr lang="ko-KR" alt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짐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.</a:t>
            </a:r>
            <a:endParaRPr lang="en-US" sz="2400" u="none" strike="noStrike" spc="-45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endParaRPr lang="en-US" sz="2400" u="none" strike="noStrike" spc="-45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400" b="1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본 프로젝트의 차별성: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 생명 유지의 핵심인 '호흡' 자체의 방해 여부를 직접 감지하여 영유아 질식 사고를 선제적으로 예방하는 솔루션</a:t>
            </a:r>
            <a:r>
              <a:rPr lang="ko-KR" alt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 제시</a:t>
            </a:r>
            <a:r>
              <a:rPr lang="en-US" altLang="ko-KR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.</a:t>
            </a:r>
            <a:endParaRPr lang="en-US" altLang="ko-KR" sz="2400" u="none" strike="noStrike" spc="-45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endParaRPr lang="en-US" sz="2400" u="none" strike="noStrike" spc="-45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400" b="1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프로젝트의 필요성 및 기대효과: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 예측 불가능한 영유아 질식 사고를 예방하여 소중한 생명을 보호하고, 보호자에게는 진정한 심리적 안정 제공하는 필수적인 기술</a:t>
            </a:r>
            <a:r>
              <a:rPr lang="ko-KR" alt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으로 예상</a:t>
            </a:r>
            <a:r>
              <a:rPr lang="en-US" sz="2400" u="none" strike="noStrike" spc="-45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.</a:t>
            </a:r>
            <a:endParaRPr lang="en-US" sz="2400" u="none" strike="noStrike" spc="-45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32" name="TextBox 32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필요성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4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sp>
        <p:nvSpPr>
          <p:cNvPr id="43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grpSp>
        <p:nvGrpSpPr>
          <p:cNvPr id="52" name="Group 6"/>
          <p:cNvGrpSpPr/>
          <p:nvPr/>
        </p:nvGrpSpPr>
        <p:grpSpPr>
          <a:xfrm rot="0">
            <a:off x="809043" y="2200016"/>
            <a:ext cx="3257588" cy="1047282"/>
            <a:chOff x="0" y="-57150"/>
            <a:chExt cx="857965" cy="275827"/>
          </a:xfrm>
        </p:grpSpPr>
        <p:sp>
          <p:nvSpPr>
            <p:cNvPr id="53" name="Freeform 7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</p:spPr>
        </p:sp>
        <p:sp>
          <p:nvSpPr>
            <p:cNvPr id="54" name="TextBox 8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55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56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7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58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59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6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3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4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5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6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7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8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9" name="Group 23"/>
          <p:cNvGrpSpPr/>
          <p:nvPr/>
        </p:nvGrpSpPr>
        <p:grpSpPr>
          <a:xfrm rot="0">
            <a:off x="3269834" y="2745255"/>
            <a:ext cx="173797" cy="173797"/>
            <a:chOff x="0" y="0"/>
            <a:chExt cx="6350000" cy="6350000"/>
          </a:xfrm>
        </p:grpSpPr>
        <p:sp>
          <p:nvSpPr>
            <p:cNvPr id="70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71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2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3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4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7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그룹 77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79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80" name="그래픽 2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4802693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724400" y="4064771"/>
            <a:ext cx="12801601" cy="215745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8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AI 영상 분석 기술을 통해 주야간으로 신생아 및 영유아의 안전을 위협하는</a:t>
            </a:r>
            <a:endParaRPr lang="en-US" sz="28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8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 </a:t>
            </a:r>
            <a:endParaRPr lang="en-US" sz="28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8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수면 중 질식, 이물질 삼킴 등의 주요 위험 상황 실시간 감지 및 즉각적 알림을 통해 </a:t>
            </a:r>
            <a:endParaRPr lang="en-US" sz="28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  <a:defRPr/>
            </a:pPr>
            <a:endParaRPr lang="en-US" sz="28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800" u="none" strike="noStrike" spc="-45">
                <a:solidFill>
                  <a:srgbClr val="12127d"/>
                </a:solidFill>
                <a:latin typeface="한컴 윤고딕 740"/>
                <a:ea typeface="한컴 윤고딕 740"/>
                <a:cs typeface="TDTD평고딕"/>
                <a:sym typeface="TDTD평고딕"/>
              </a:rPr>
              <a:t>안전사고를 선제적으로 예방하는 스마트 베이비캠 시스템 개발</a:t>
            </a:r>
            <a:endParaRPr lang="en-US" sz="2800" u="none" strike="noStrike" spc="-45">
              <a:solidFill>
                <a:srgbClr val="12127d"/>
              </a:solidFill>
              <a:latin typeface="한컴 윤고딕 740"/>
              <a:ea typeface="한컴 윤고딕 740"/>
              <a:cs typeface="TDTD평고딕"/>
              <a:sym typeface="TDTD평고딕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32" name="TextBox 32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목표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4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sp>
        <p:nvSpPr>
          <p:cNvPr id="43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grpSp>
        <p:nvGrpSpPr>
          <p:cNvPr id="52" name="Group 6"/>
          <p:cNvGrpSpPr/>
          <p:nvPr/>
        </p:nvGrpSpPr>
        <p:grpSpPr>
          <a:xfrm rot="0">
            <a:off x="809043" y="2200016"/>
            <a:ext cx="3257588" cy="1047282"/>
            <a:chOff x="0" y="-57150"/>
            <a:chExt cx="857965" cy="275827"/>
          </a:xfrm>
        </p:grpSpPr>
        <p:sp>
          <p:nvSpPr>
            <p:cNvPr id="53" name="Freeform 7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</p:spPr>
        </p:sp>
        <p:sp>
          <p:nvSpPr>
            <p:cNvPr id="54" name="TextBox 8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55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56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7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58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59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6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3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4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5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6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7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8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9" name="Group 23"/>
          <p:cNvGrpSpPr/>
          <p:nvPr/>
        </p:nvGrpSpPr>
        <p:grpSpPr>
          <a:xfrm rot="0">
            <a:off x="3269834" y="2745255"/>
            <a:ext cx="173797" cy="173797"/>
            <a:chOff x="0" y="0"/>
            <a:chExt cx="6350000" cy="6350000"/>
          </a:xfrm>
        </p:grpSpPr>
        <p:sp>
          <p:nvSpPr>
            <p:cNvPr id="70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71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2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3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4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7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그룹 77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79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80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9434698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52123" cy="10287000"/>
            <a:chOff x="0" y="0"/>
            <a:chExt cx="96187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18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1876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en-US" sz="1800" u="none" strike="noStrike">
              <a:solidFill>
                <a:srgbClr val="5371ff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3269834" y="3876141"/>
            <a:ext cx="173797" cy="173797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팀 구성 </a:t>
            </a:r>
            <a:r>
              <a:rPr lang="en-US" altLang="ko-KR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/</a:t>
            </a: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 역할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name="AutoShape 32" id="3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33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sp>
        <p:nvSpPr>
          <p:cNvPr id="61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62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79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0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81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82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3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84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8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87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88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89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0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91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2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3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/>
        </p:nvGraphicFramePr>
        <p:xfrm>
          <a:off x="4951095" y="3162299"/>
          <a:ext cx="12193904" cy="4944050"/>
        </p:xfrm>
        <a:graphic>
          <a:graphicData uri="http://schemas.openxmlformats.org/drawingml/2006/table">
            <a:tbl>
              <a:tblPr firstRow="1" bandRow="1"/>
              <a:tblGrid>
                <a:gridCol w="6096000"/>
                <a:gridCol w="6097904"/>
              </a:tblGrid>
              <a:tr h="98165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한컴 윤고딕 740"/>
                          <a:ea typeface="한컴 윤고딕 740"/>
                        </a:rPr>
                        <a:t>이름</a:t>
                      </a:r>
                      <a:endParaRPr lang="ko-KR" altLang="en-US" sz="20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rgbClr val="c0cde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한컴 윤고딕 740"/>
                          <a:ea typeface="한컴 윤고딕 740"/>
                        </a:rPr>
                        <a:t>역할</a:t>
                      </a:r>
                      <a:endParaRPr lang="ko-KR" altLang="en-US" sz="20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rgbClr val="c0cdef"/>
                    </a:solidFill>
                  </a:tcPr>
                </a:tc>
              </a:tr>
              <a:tr h="10174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김현겸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팀장 (아이디어 제시, AI 서비스 구축, 데이터 수집 및 라벨링</a:t>
                      </a:r>
                      <a:r>
                        <a:rPr lang="en-US" altLang="ko-KR" sz="2200">
                          <a:latin typeface="한컴 윤고딕 740"/>
                          <a:ea typeface="한컴 윤고딕 740"/>
                        </a:rPr>
                        <a:t>,</a:t>
                      </a: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 제비어 임베딩)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  <a:tr h="98165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김현중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팀원 (AI 서비스 구축, 데이터 라벨링</a:t>
                      </a:r>
                      <a:r>
                        <a:rPr lang="en-US" altLang="ko-KR" sz="2200">
                          <a:latin typeface="한컴 윤고딕 740"/>
                          <a:ea typeface="한컴 윤고딕 740"/>
                        </a:rPr>
                        <a:t>,</a:t>
                      </a: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 제비어 임베딩)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  <a:tr h="98165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김상원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팀원 (AI 서비스 구축, 데이터 수집 및 라벨링)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  <a:tr h="98165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박철범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200">
                          <a:latin typeface="한컴 윤고딕 740"/>
                          <a:ea typeface="한컴 윤고딕 740"/>
                        </a:rPr>
                        <a:t>팀원 (테스터)</a:t>
                      </a:r>
                      <a:endParaRPr lang="ko-KR" altLang="en-US" sz="2200">
                        <a:latin typeface="한컴 윤고딕 740"/>
                        <a:ea typeface="한컴 윤고딕 740"/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6" name="그룹 9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9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98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name="AutoShape 23" id="23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41" name="TextBox 4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시나리오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50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51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52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3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60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61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5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6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7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8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9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0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2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3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4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7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Group 12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79" name="Freeform 13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80" name="TextBox 14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81" name="Group 21"/>
          <p:cNvGrpSpPr/>
          <p:nvPr/>
        </p:nvGrpSpPr>
        <p:grpSpPr>
          <a:xfrm rot="0">
            <a:off x="3269834" y="5007027"/>
            <a:ext cx="173797" cy="173797"/>
            <a:chOff x="0" y="0"/>
            <a:chExt cx="6350000" cy="6350000"/>
          </a:xfrm>
        </p:grpSpPr>
        <p:sp>
          <p:nvSpPr>
            <p:cNvPr id="8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84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85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86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7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88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89" name="가로 글상자 88"/>
          <p:cNvSpPr txBox="1"/>
          <p:nvPr/>
        </p:nvSpPr>
        <p:spPr>
          <a:xfrm>
            <a:off x="11353800" y="2586038"/>
            <a:ext cx="5333999" cy="478440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200" b="1">
                <a:latin typeface="한컴 윤고딕 740"/>
                <a:ea typeface="한컴 윤고딕 740"/>
              </a:rPr>
              <a:t>2.</a:t>
            </a:r>
            <a:r>
              <a:rPr lang="ko-KR" altLang="en-US" sz="2200" b="1">
                <a:latin typeface="한컴 윤고딕 740"/>
                <a:ea typeface="한컴 윤고딕 740"/>
              </a:rPr>
              <a:t> 야간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en-US" altLang="ko-KR" sz="2200">
                <a:latin typeface="한컴 윤고딕 740"/>
                <a:ea typeface="한컴 윤고딕 740"/>
              </a:rPr>
              <a:t>1)</a:t>
            </a:r>
            <a:r>
              <a:rPr lang="ko-KR" altLang="en-US" sz="2200">
                <a:latin typeface="한컴 윤고딕 740"/>
                <a:ea typeface="한컴 윤고딕 740"/>
              </a:rPr>
              <a:t> 수면 중 질식 사고 방지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en-US" altLang="ko-KR" sz="2200">
                <a:latin typeface="한컴 윤고딕 740"/>
                <a:ea typeface="한컴 윤고딕 740"/>
              </a:rPr>
              <a:t>2)</a:t>
            </a:r>
            <a:r>
              <a:rPr lang="ko-KR" altLang="en-US" sz="2200">
                <a:latin typeface="한컴 윤고딕 740"/>
                <a:ea typeface="한컴 윤고딕 740"/>
              </a:rPr>
              <a:t> 수면 안전 모니터링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200">
                <a:latin typeface="한컴 윤고딕 740"/>
                <a:ea typeface="한컴 윤고딕 740"/>
              </a:rPr>
              <a:t>호흡 추적 및 위험 자세 감지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marL="457200" lvl="1" indent="0">
              <a:buFont typeface="Arial"/>
              <a:buNone/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200">
                <a:latin typeface="한컴 윤고딕 740"/>
                <a:ea typeface="한컴 윤고딕 740"/>
              </a:rPr>
              <a:t>야간 모드에서 아이의 코와 입을 정밀하게 학습 및 추적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200">
                <a:latin typeface="한컴 윤고딕 740"/>
                <a:ea typeface="한컴 윤고딕 740"/>
              </a:rPr>
              <a:t>이불/베개 등에 의해 일정 시간 이상 호흡 경로 가려질 경우 즉시 경고 알림 전송</a:t>
            </a:r>
            <a:endParaRPr lang="ko-KR" altLang="en-US" sz="2200">
              <a:latin typeface="한컴 윤고딕 740"/>
              <a:ea typeface="한컴 윤고딕 740"/>
            </a:endParaRPr>
          </a:p>
        </p:txBody>
      </p:sp>
      <p:sp>
        <p:nvSpPr>
          <p:cNvPr id="90" name="가로 글상자 89"/>
          <p:cNvSpPr txBox="1"/>
          <p:nvPr/>
        </p:nvSpPr>
        <p:spPr>
          <a:xfrm>
            <a:off x="5181600" y="2632710"/>
            <a:ext cx="5257800" cy="411098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200" b="1">
                <a:latin typeface="한컴 윤고딕 740"/>
                <a:ea typeface="한컴 윤고딕 740"/>
              </a:rPr>
              <a:t>1</a:t>
            </a:r>
            <a:r>
              <a:rPr lang="ko-KR" altLang="en-US" sz="2200" b="1">
                <a:latin typeface="한컴 윤고딕 740"/>
                <a:ea typeface="한컴 윤고딕 740"/>
              </a:rPr>
              <a:t>. 주간</a:t>
            </a:r>
            <a:endParaRPr lang="ko-KR" altLang="en-US" sz="2200" b="1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en-US" altLang="ko-KR" sz="2200">
                <a:latin typeface="한컴 윤고딕 740"/>
                <a:ea typeface="한컴 윤고딕 740"/>
              </a:rPr>
              <a:t>1)</a:t>
            </a:r>
            <a:r>
              <a:rPr lang="ko-KR" altLang="en-US" sz="2200">
                <a:latin typeface="한컴 윤고딕 740"/>
                <a:ea typeface="한컴 윤고딕 740"/>
              </a:rPr>
              <a:t> 이물질 삼킴 사고 예방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en-US" altLang="ko-KR" sz="2200">
                <a:latin typeface="한컴 윤고딕 740"/>
                <a:ea typeface="한컴 윤고딕 740"/>
              </a:rPr>
              <a:t>2)</a:t>
            </a:r>
            <a:r>
              <a:rPr lang="ko-KR" altLang="en-US" sz="2200">
                <a:latin typeface="한컴 윤고딕 740"/>
                <a:ea typeface="한컴 윤고딕 740"/>
              </a:rPr>
              <a:t> 활동 안전 모니터링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200">
                <a:latin typeface="한컴 윤고딕 740"/>
                <a:ea typeface="한컴 윤고딕 740"/>
              </a:rPr>
              <a:t>아이의 손,그리고 주변의 작은 오브젝트(병뚜껑, 동전 등) AI가 인식</a:t>
            </a: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200">
              <a:latin typeface="한컴 윤고딕 740"/>
              <a:ea typeface="한컴 윤고딕 740"/>
            </a:endParaRP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200">
                <a:latin typeface="한컴 윤고딕 740"/>
                <a:ea typeface="한컴 윤고딕 740"/>
              </a:rPr>
              <a:t>아이가 위험 물체에 손이 가까워지는 행동 패턴을 감지하여 사전에 경고 알림 전송</a:t>
            </a:r>
            <a:endParaRPr lang="ko-KR" altLang="en-US" sz="2200">
              <a:latin typeface="한컴 윤고딕 740"/>
              <a:ea typeface="한컴 윤고딕 740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23" name="AutoShape 23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41" name="TextBox 4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이슈 대비 방안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50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51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52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3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60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61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5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6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7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8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9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0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2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3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4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7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Group 12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79" name="Freeform 13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80" name="TextBox 14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81" name="Group 21"/>
          <p:cNvGrpSpPr/>
          <p:nvPr/>
        </p:nvGrpSpPr>
        <p:grpSpPr>
          <a:xfrm rot="0">
            <a:off x="3269834" y="5007027"/>
            <a:ext cx="173797" cy="173797"/>
            <a:chOff x="0" y="0"/>
            <a:chExt cx="6350000" cy="6350000"/>
          </a:xfrm>
        </p:grpSpPr>
        <p:sp>
          <p:nvSpPr>
            <p:cNvPr id="8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84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85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86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7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88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90" name="가로 글상자 89"/>
          <p:cNvSpPr txBox="1"/>
          <p:nvPr/>
        </p:nvSpPr>
        <p:spPr>
          <a:xfrm>
            <a:off x="7772400" y="3451205"/>
            <a:ext cx="7239000" cy="338584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400" b="1">
                <a:latin typeface="한컴 윤고딕 740"/>
                <a:ea typeface="한컴 윤고딕 740"/>
              </a:rPr>
              <a:t>1.</a:t>
            </a:r>
            <a:r>
              <a:rPr lang="ko-KR" altLang="en-US" sz="2400" b="1">
                <a:latin typeface="한컴 윤고딕 740"/>
                <a:ea typeface="한컴 윤고딕 740"/>
              </a:rPr>
              <a:t> </a:t>
            </a:r>
            <a:r>
              <a:rPr lang="en-US" altLang="ko-KR" sz="2400" b="1">
                <a:latin typeface="한컴 윤고딕 740"/>
                <a:ea typeface="한컴 윤고딕 740"/>
              </a:rPr>
              <a:t>부진한 학습 / 단일화한 클래스</a:t>
            </a:r>
            <a:endParaRPr lang="en-US" altLang="ko-KR" sz="2400" b="1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en-US" altLang="ko-KR" sz="2400" b="1">
              <a:latin typeface="한컴 윤고딕 740"/>
              <a:ea typeface="한컴 윤고딕 740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2400">
                <a:latin typeface="한컴 윤고딕 740"/>
                <a:ea typeface="한컴 윤고딕 740"/>
              </a:rPr>
              <a:t>	→ </a:t>
            </a:r>
            <a:r>
              <a:rPr lang="en-US" altLang="ko-KR" sz="2400">
                <a:latin typeface="한컴 윤고딕 740"/>
                <a:ea typeface="한컴 윤고딕 740"/>
              </a:rPr>
              <a:t>데이터셋 증가 및 클래스 세분화</a:t>
            </a:r>
            <a:endParaRPr lang="en-US" altLang="ko-KR" sz="24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en-US" altLang="ko-KR" sz="24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en-US" altLang="ko-KR" sz="24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en-US" altLang="ko-KR" sz="2400" b="1">
              <a:latin typeface="한컴 윤고딕 740"/>
              <a:ea typeface="한컴 윤고딕 740"/>
            </a:endParaRP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한컴 윤고딕 740"/>
                <a:ea typeface="한컴 윤고딕 740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한컴 윤고딕 740"/>
                <a:ea typeface="한컴 윤고딕 740"/>
              </a:rPr>
              <a:t> </a:t>
            </a:r>
            <a:r>
              <a:rPr lang="en-US" altLang="ko-KR" sz="2400" b="1">
                <a:latin typeface="한컴 윤고딕 740"/>
                <a:ea typeface="한컴 윤고딕 740"/>
              </a:rPr>
              <a:t>영유아 데이터셋 부족</a:t>
            </a:r>
            <a:endParaRPr lang="en-US" altLang="ko-KR" sz="2400" b="1">
              <a:latin typeface="한컴 윤고딕 740"/>
              <a:ea typeface="한컴 윤고딕 740"/>
            </a:endParaRPr>
          </a:p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400" b="1">
              <a:latin typeface="한컴 윤고딕 740"/>
              <a:ea typeface="한컴 윤고딕 740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2400">
                <a:latin typeface="한컴 윤고딕 740"/>
                <a:ea typeface="한컴 윤고딕 740"/>
              </a:rPr>
              <a:t>	→ </a:t>
            </a:r>
            <a:r>
              <a:rPr lang="en-US" altLang="ko-KR" sz="2400">
                <a:latin typeface="한컴 윤고딕 740"/>
                <a:ea typeface="한컴 윤고딕 740"/>
              </a:rPr>
              <a:t>아기 인형을 활용해 데이터셋 수집 예정</a:t>
            </a:r>
            <a:endParaRPr lang="en-US" altLang="ko-KR" sz="2400">
              <a:latin typeface="한컴 윤고딕 740"/>
              <a:ea typeface="한컴 윤고딕 740"/>
            </a:endParaRPr>
          </a:p>
        </p:txBody>
      </p:sp>
    </p:spTree>
    <p:extLst>
      <p:ext uri="{BB962C8B-B14F-4D97-AF65-F5344CB8AC3E}">
        <p14:creationId xmlns:p14="http://schemas.microsoft.com/office/powerpoint/2010/main" val="46227221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23" name="AutoShape 23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5265979" y="4533900"/>
            <a:ext cx="9212021" cy="28446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grpSp>
        <p:nvGrpSpPr>
          <p:cNvPr id="25" name="Group 25"/>
          <p:cNvGrpSpPr/>
          <p:nvPr/>
        </p:nvGrpSpPr>
        <p:grpSpPr>
          <a:xfrm rot="0">
            <a:off x="5113579" y="3495546"/>
            <a:ext cx="2057400" cy="205740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85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20414"/>
              <a:ext cx="660400" cy="61618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ko-KR" altLang="en-US" sz="2000">
                  <a:solidFill>
                    <a:srgbClr val="ffffff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사전 기획</a:t>
              </a:r>
              <a:endParaRPr lang="ko-KR" altLang="en-US" sz="2000">
                <a:solidFill>
                  <a:srgbClr val="ffffff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8270672" y="3495546"/>
            <a:ext cx="2057400" cy="205740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120414"/>
              <a:ext cx="660400" cy="58608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데이터 </a:t>
              </a:r>
              <a:r>
                <a:rPr lang="ko-KR" alt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수집 및 라벨링</a:t>
              </a:r>
              <a:endParaRPr lang="ko-KR" altLang="en-US" sz="2000">
                <a:solidFill>
                  <a:srgbClr val="000000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11427765" y="3495546"/>
            <a:ext cx="2057400" cy="205740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199" y="120414"/>
              <a:ext cx="660400" cy="61618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ko-KR" alt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학습 및 데이터 보강</a:t>
              </a:r>
              <a:endParaRPr lang="en-US" sz="2000">
                <a:solidFill>
                  <a:srgbClr val="000000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일정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503979" y="6134100"/>
            <a:ext cx="3231189" cy="2760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9.19 ~ 9.23</a:t>
            </a:r>
            <a:endParaRPr lang="en-US" sz="2000" b="1">
              <a:solidFill>
                <a:srgbClr val="000000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658251" y="6134100"/>
            <a:ext cx="3398928" cy="2760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9.24 ~ 10.2</a:t>
            </a:r>
            <a:endParaRPr lang="en-US" sz="2000" b="1">
              <a:solidFill>
                <a:srgbClr val="000000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604559" y="6134100"/>
            <a:ext cx="3881620" cy="2762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10.13 ~ 10.</a:t>
            </a:r>
            <a:r>
              <a:rPr lang="en-US" altLang="ko-KR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9</a:t>
            </a:r>
            <a:endParaRPr lang="en-US" altLang="ko-KR" sz="2000" b="1">
              <a:solidFill>
                <a:srgbClr val="000000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50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51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52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3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60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61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5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6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7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grpSp>
        <p:nvGrpSpPr>
          <p:cNvPr id="68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9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0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2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3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4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7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7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8" name="Group 12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79" name="Freeform 13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80" name="TextBox 14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81" name="Group 21"/>
          <p:cNvGrpSpPr/>
          <p:nvPr/>
        </p:nvGrpSpPr>
        <p:grpSpPr>
          <a:xfrm rot="0">
            <a:off x="3269834" y="5007027"/>
            <a:ext cx="173797" cy="173797"/>
            <a:chOff x="0" y="0"/>
            <a:chExt cx="6350000" cy="6350000"/>
          </a:xfrm>
        </p:grpSpPr>
        <p:sp>
          <p:nvSpPr>
            <p:cNvPr id="8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84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85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86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7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88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89" name="그룹 88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90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91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grpSp>
        <p:nvGrpSpPr>
          <p:cNvPr id="95" name="Group 31"/>
          <p:cNvGrpSpPr/>
          <p:nvPr/>
        </p:nvGrpSpPr>
        <p:grpSpPr>
          <a:xfrm rot="0">
            <a:off x="14478000" y="3467100"/>
            <a:ext cx="2057400" cy="2057400"/>
            <a:chOff x="0" y="0"/>
            <a:chExt cx="812800" cy="812800"/>
          </a:xfrm>
        </p:grpSpPr>
        <p:sp>
          <p:nvSpPr>
            <p:cNvPr id="96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caef"/>
            </a:solidFill>
          </p:spPr>
        </p:sp>
        <p:sp>
          <p:nvSpPr>
            <p:cNvPr id="97" name="TextBox 33"/>
            <p:cNvSpPr txBox="1"/>
            <p:nvPr/>
          </p:nvSpPr>
          <p:spPr>
            <a:xfrm>
              <a:off x="76199" y="120414"/>
              <a:ext cx="660400" cy="61618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모델링 </a:t>
              </a:r>
              <a:r>
                <a:rPr lang="en-US" altLang="ko-KR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&amp;</a:t>
              </a:r>
              <a:endParaRPr lang="en-US" altLang="ko-KR" sz="2000">
                <a:solidFill>
                  <a:srgbClr val="000000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ko-KR" alt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 </a:t>
              </a:r>
              <a:endParaRPr lang="ko-KR" altLang="en-US" sz="2000">
                <a:solidFill>
                  <a:srgbClr val="000000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  <a:defRPr/>
              </a:pPr>
              <a:r>
                <a:rPr lang="en-US" sz="2000">
                  <a:solidFill>
                    <a:srgbClr val="000000"/>
                  </a:solidFill>
                  <a:latin typeface="한컴 윤고딕 760"/>
                  <a:ea typeface="한컴 윤고딕 760"/>
                  <a:cs typeface="Arita Dotum Bold"/>
                  <a:sym typeface="Arita Dotum Bold"/>
                </a:rPr>
                <a:t>서비스 구축</a:t>
              </a:r>
              <a:endParaRPr lang="en-US" sz="2000">
                <a:solidFill>
                  <a:srgbClr val="000000"/>
                </a:solidFill>
                <a:latin typeface="한컴 윤고딕 760"/>
                <a:ea typeface="한컴 윤고딕 760"/>
                <a:cs typeface="Arita Dotum Bold"/>
                <a:sym typeface="Arita Dotum Bold"/>
              </a:endParaRPr>
            </a:p>
          </p:txBody>
        </p:sp>
      </p:grpSp>
      <p:sp>
        <p:nvSpPr>
          <p:cNvPr id="98" name="TextBox 48"/>
          <p:cNvSpPr txBox="1"/>
          <p:nvPr/>
        </p:nvSpPr>
        <p:spPr>
          <a:xfrm>
            <a:off x="13644379" y="6086475"/>
            <a:ext cx="3881620" cy="2762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10.</a:t>
            </a:r>
            <a:r>
              <a:rPr lang="en-US" altLang="ko-KR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9</a:t>
            </a:r>
            <a:r>
              <a:rPr lang="en-US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 ~ 10.</a:t>
            </a:r>
            <a:r>
              <a:rPr lang="en-US" altLang="ko-KR" sz="2000" b="1">
                <a:solidFill>
                  <a:srgbClr val="000000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22</a:t>
            </a:r>
            <a:endParaRPr lang="en-US" altLang="ko-KR" sz="2000" b="1">
              <a:solidFill>
                <a:srgbClr val="000000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</p:spTree>
    <p:extLst>
      <p:ext uri="{BB962C8B-B14F-4D97-AF65-F5344CB8AC3E}">
        <p14:creationId xmlns:p14="http://schemas.microsoft.com/office/powerpoint/2010/main" val="582364326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41" name="TextBox 4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데이터 수집 및 라벨링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59" name="Group 59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4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100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1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1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1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1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1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1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19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2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2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23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6" name="그룹 12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2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8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29" name="그림 12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18852" y="2162293"/>
            <a:ext cx="3005948" cy="2981207"/>
          </a:xfrm>
          <a:prstGeom prst="rect">
            <a:avLst/>
          </a:prstGeom>
        </p:spPr>
      </p:pic>
      <p:pic>
        <p:nvPicPr>
          <p:cNvPr id="130" name="그림 12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77200" y="2933700"/>
            <a:ext cx="3410464" cy="914400"/>
          </a:xfrm>
          <a:prstGeom prst="rect">
            <a:avLst/>
          </a:prstGeom>
        </p:spPr>
      </p:pic>
      <p:pic>
        <p:nvPicPr>
          <p:cNvPr id="131" name="그림 13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95800" y="6591300"/>
            <a:ext cx="7010400" cy="914527"/>
          </a:xfrm>
          <a:prstGeom prst="rect">
            <a:avLst/>
          </a:prstGeom>
        </p:spPr>
      </p:pic>
      <p:sp>
        <p:nvSpPr>
          <p:cNvPr id="132" name="TextBox 15"/>
          <p:cNvSpPr txBox="1"/>
          <p:nvPr/>
        </p:nvSpPr>
        <p:spPr>
          <a:xfrm>
            <a:off x="11874485" y="1446051"/>
            <a:ext cx="6032514" cy="46880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데이터 수집 단계에서 아기 얼굴 데이터셋을 찾던 도중 발견</a:t>
            </a:r>
            <a:endParaRPr lang="ko-KR" altLang="en-US" sz="2300">
              <a:solidFill>
                <a:srgbClr val="00000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  <a:p>
            <a:pPr lvl="0" algn="just">
              <a:lnSpc>
                <a:spcPts val="3680"/>
              </a:lnSpc>
              <a:defRPr/>
            </a:pP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팀원들간 데이터 공유 및 라벨링 용이</a:t>
            </a: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altLang="ko-KR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AI</a:t>
            </a: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 라벨링을 어시스트 해줌</a:t>
            </a: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데이터셋 분리와 증강을 지원</a:t>
            </a: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endParaRPr 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just">
              <a:lnSpc>
                <a:spcPts val="3680"/>
              </a:lnSpc>
              <a:defRPr/>
            </a:pPr>
            <a:r>
              <a:rPr lang="ko-KR" altLang="en-US" sz="23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사이트에서 지원하는 학습으로 결과 미리 확인</a:t>
            </a:r>
            <a:endParaRPr lang="ko-KR" altLang="en-US" sz="230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33" name="가로 글상자 132"/>
          <p:cNvSpPr txBox="1"/>
          <p:nvPr/>
        </p:nvSpPr>
        <p:spPr>
          <a:xfrm>
            <a:off x="10287000" y="7976234"/>
            <a:ext cx="7620000" cy="443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300"/>
              <a:t>OpenImages V7</a:t>
            </a:r>
            <a:r>
              <a:rPr lang="ko-KR" altLang="en-US" sz="2300"/>
              <a:t>에서 키워드를 이용해서 데이터 수집</a:t>
            </a:r>
            <a:endParaRPr lang="ko-KR" altLang="en-US" sz="2300"/>
          </a:p>
        </p:txBody>
      </p:sp>
    </p:spTree>
    <p:extLst>
      <p:ext uri="{BB962C8B-B14F-4D97-AF65-F5344CB8AC3E}">
        <p14:creationId xmlns:p14="http://schemas.microsoft.com/office/powerpoint/2010/main" val="341923729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grpSp>
        <p:nvGrpSpPr>
          <p:cNvPr id="59" name="Group 59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4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100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1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1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1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1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1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1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19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2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2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23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6" name="그룹 12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2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8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87964" y="647700"/>
            <a:ext cx="6803836" cy="4020679"/>
          </a:xfrm>
          <a:prstGeom prst="rect">
            <a:avLst/>
          </a:prstGeom>
        </p:spPr>
      </p:pic>
      <p:pic>
        <p:nvPicPr>
          <p:cNvPr id="135" name="그림 13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668002" y="723900"/>
            <a:ext cx="7238999" cy="4038600"/>
          </a:xfrm>
          <a:prstGeom prst="rect">
            <a:avLst/>
          </a:prstGeom>
        </p:spPr>
      </p:pic>
      <p:pic>
        <p:nvPicPr>
          <p:cNvPr id="136" name="그림 13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0" y="5143500"/>
            <a:ext cx="6629400" cy="3276599"/>
          </a:xfrm>
          <a:prstGeom prst="rect">
            <a:avLst/>
          </a:prstGeom>
        </p:spPr>
      </p:pic>
      <p:pic>
        <p:nvPicPr>
          <p:cNvPr id="137" name="그림 13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896600" y="5143500"/>
            <a:ext cx="66294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70152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sp>
        <p:nvSpPr>
          <p:cNvPr id="41" name="TextBox 4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소프트웨어 구성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59" name="Group 59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4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100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1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1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1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1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1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1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19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2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2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23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01000" y="2019300"/>
            <a:ext cx="6172200" cy="6644192"/>
          </a:xfrm>
          <a:prstGeom prst="rect">
            <a:avLst/>
          </a:prstGeom>
        </p:spPr>
      </p:pic>
      <p:grpSp>
        <p:nvGrpSpPr>
          <p:cNvPr id="126" name="그룹 12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2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8" name="그래픽 23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8299614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id="3" name="Group 3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하드웨어 구성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1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2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3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4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5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96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7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0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0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0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0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0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08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10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pic>
        <p:nvPicPr>
          <p:cNvPr id="113" name="그림 11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038599" y="2095500"/>
            <a:ext cx="4114800" cy="4114800"/>
          </a:xfrm>
          <a:prstGeom prst="rect">
            <a:avLst/>
          </a:prstGeom>
        </p:spPr>
      </p:pic>
      <p:pic>
        <p:nvPicPr>
          <p:cNvPr id="114" name="그림 113"/>
          <p:cNvPicPr>
            <a:picLocks noChangeAspect="1"/>
          </p:cNvPicPr>
          <p:nvPr/>
        </p:nvPicPr>
        <p:blipFill rotWithShape="1">
          <a:blip r:embed="rId3"/>
          <a:srcRect l="11250" t="16250" r="12500" b="7500"/>
          <a:stretch>
            <a:fillRect/>
          </a:stretch>
        </p:blipFill>
        <p:spPr>
          <a:xfrm>
            <a:off x="8915399" y="2095500"/>
            <a:ext cx="4114800" cy="4114800"/>
          </a:xfrm>
          <a:prstGeom prst="rect">
            <a:avLst/>
          </a:prstGeom>
        </p:spPr>
      </p:pic>
      <p:sp>
        <p:nvSpPr>
          <p:cNvPr id="115" name="가로 글상자 114"/>
          <p:cNvSpPr txBox="1"/>
          <p:nvPr/>
        </p:nvSpPr>
        <p:spPr>
          <a:xfrm>
            <a:off x="9144000" y="6743700"/>
            <a:ext cx="3558540" cy="5124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R-C-TPN-TapoC210</a:t>
            </a:r>
            <a:endParaRPr lang="ko-KR" altLang="en-US" sz="2800" b="1">
              <a:latin typeface="한컴 윤고딕 740"/>
              <a:ea typeface="한컴 윤고딕 740"/>
            </a:endParaRPr>
          </a:p>
        </p:txBody>
      </p:sp>
      <p:sp>
        <p:nvSpPr>
          <p:cNvPr id="117" name="가로 글상자 116"/>
          <p:cNvSpPr txBox="1"/>
          <p:nvPr/>
        </p:nvSpPr>
        <p:spPr>
          <a:xfrm>
            <a:off x="4922519" y="6743700"/>
            <a:ext cx="2392681" cy="512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Jeston Xavier</a:t>
            </a:r>
            <a:endParaRPr lang="ko-KR" altLang="en-US" sz="2800" b="1">
              <a:latin typeface="한컴 윤고딕 740"/>
              <a:ea typeface="한컴 윤고딕 740"/>
            </a:endParaRPr>
          </a:p>
        </p:txBody>
      </p:sp>
      <p:grpSp>
        <p:nvGrpSpPr>
          <p:cNvPr id="118" name="그룹 117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19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0" name="그래픽 2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121" name="가로 글상자 120"/>
          <p:cNvSpPr txBox="1"/>
          <p:nvPr/>
        </p:nvSpPr>
        <p:spPr>
          <a:xfrm>
            <a:off x="13716000" y="2247900"/>
            <a:ext cx="4191000" cy="14554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>
                <a:latin typeface="한컴 윤고딕 250"/>
                <a:ea typeface="한컴 윤고딕 250"/>
              </a:rPr>
              <a:t>Xavier</a:t>
            </a:r>
            <a:r>
              <a:rPr lang="ko-KR" altLang="en-US">
                <a:latin typeface="한컴 윤고딕 250"/>
                <a:ea typeface="한컴 윤고딕 250"/>
              </a:rPr>
              <a:t>를 이용해서 추론 및 알림 전송</a:t>
            </a:r>
            <a:endParaRPr lang="ko-KR" altLang="en-US">
              <a:latin typeface="한컴 윤고딕 250"/>
              <a:ea typeface="한컴 윤고딕 250"/>
            </a:endParaRPr>
          </a:p>
          <a:p>
            <a:pPr lvl="0">
              <a:defRPr/>
            </a:pPr>
            <a:endParaRPr lang="en-US" altLang="ko-KR">
              <a:latin typeface="한컴 윤고딕 250"/>
              <a:ea typeface="한컴 윤고딕 250"/>
            </a:endParaRPr>
          </a:p>
          <a:p>
            <a:pPr lvl="0">
              <a:defRPr/>
            </a:pPr>
            <a:r>
              <a:rPr lang="en-US" altLang="ko-KR">
                <a:latin typeface="한컴 윤고딕 250"/>
                <a:ea typeface="한컴 윤고딕 250"/>
              </a:rPr>
              <a:t>IR</a:t>
            </a:r>
            <a:r>
              <a:rPr lang="ko-KR" altLang="en-US">
                <a:latin typeface="한컴 윤고딕 250"/>
                <a:ea typeface="한컴 윤고딕 250"/>
              </a:rPr>
              <a:t> 카메라를 써서 야간에도 선명한 화질</a:t>
            </a:r>
            <a:endParaRPr lang="ko-KR" altLang="en-US">
              <a:latin typeface="한컴 윤고딕 250"/>
              <a:ea typeface="한컴 윤고딕 250"/>
            </a:endParaRPr>
          </a:p>
          <a:p>
            <a:pPr lvl="0">
              <a:defRPr/>
            </a:pPr>
            <a:endParaRPr lang="ko-KR" altLang="en-US">
              <a:latin typeface="한컴 윤고딕 250"/>
              <a:ea typeface="한컴 윤고딕 250"/>
            </a:endParaRPr>
          </a:p>
          <a:p>
            <a:pPr lvl="0">
              <a:defRPr/>
            </a:pPr>
            <a:r>
              <a:rPr lang="en-US" altLang="ko-KR">
                <a:latin typeface="한컴 윤고딕 250"/>
                <a:ea typeface="한컴 윤고딕 250"/>
              </a:rPr>
              <a:t>RTSP</a:t>
            </a:r>
            <a:r>
              <a:rPr lang="ko-KR" altLang="en-US">
                <a:latin typeface="한컴 윤고딕 250"/>
                <a:ea typeface="한컴 윤고딕 250"/>
              </a:rPr>
              <a:t> 방식으로 영상 입력</a:t>
            </a:r>
            <a:endParaRPr lang="ko-KR" altLang="en-US">
              <a:latin typeface="한컴 윤고딕 250"/>
              <a:ea typeface="한컴 윤고딕 250"/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grpSp>
        <p:nvGrpSpPr>
          <p:cNvPr id="3" name="Group 3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5032636" y="1079790"/>
            <a:ext cx="8222728" cy="6061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개발 필요 요소 및 Github 주소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1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2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3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4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5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96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7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0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0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0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0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0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08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10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18" name="그룹 117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19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0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121" name="가로 글상자 120"/>
          <p:cNvSpPr txBox="1"/>
          <p:nvPr/>
        </p:nvSpPr>
        <p:spPr>
          <a:xfrm>
            <a:off x="5890260" y="3395663"/>
            <a:ext cx="10645140" cy="392715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객체 탐지 학습 모델:</a:t>
            </a:r>
            <a:r>
              <a:rPr lang="ko-KR" altLang="en-US" sz="2800">
                <a:latin typeface="한컴 윤고딕 740"/>
                <a:ea typeface="한컴 윤고딕 740"/>
              </a:rPr>
              <a:t> YOLOv11</a:t>
            </a:r>
            <a:r>
              <a:rPr lang="en-US" altLang="ko-KR" sz="2800">
                <a:latin typeface="한컴 윤고딕 740"/>
                <a:ea typeface="한컴 윤고딕 740"/>
              </a:rPr>
              <a:t>s</a:t>
            </a:r>
            <a:endParaRPr lang="en-US" altLang="ko-KR" sz="28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8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사진 데이터 수집: </a:t>
            </a:r>
            <a:r>
              <a:rPr lang="ko-KR" altLang="en-US" sz="2800">
                <a:latin typeface="한컴 윤고딕 740"/>
                <a:ea typeface="한컴 윤고딕 740"/>
              </a:rPr>
              <a:t>OpenImage </a:t>
            </a:r>
            <a:r>
              <a:rPr lang="en-US" altLang="ko-KR" sz="2800">
                <a:latin typeface="한컴 윤고딕 740"/>
                <a:ea typeface="한컴 윤고딕 740"/>
              </a:rPr>
              <a:t>V7</a:t>
            </a:r>
            <a:r>
              <a:rPr lang="ko-KR" altLang="en-US" sz="2800">
                <a:latin typeface="한컴 윤고딕 740"/>
                <a:ea typeface="한컴 윤고딕 740"/>
              </a:rPr>
              <a:t>, Roboflow</a:t>
            </a:r>
            <a:r>
              <a:rPr lang="en-US" altLang="ko-KR" sz="2800">
                <a:latin typeface="한컴 윤고딕 740"/>
                <a:ea typeface="한컴 윤고딕 740"/>
              </a:rPr>
              <a:t>,</a:t>
            </a:r>
            <a:r>
              <a:rPr lang="ko-KR" altLang="en-US" sz="2800">
                <a:latin typeface="한컴 윤고딕 740"/>
                <a:ea typeface="한컴 윤고딕 740"/>
              </a:rPr>
              <a:t> 자체 수집</a:t>
            </a:r>
            <a:endParaRPr lang="ko-KR" altLang="en-US" sz="28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800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주요 라벨링:</a:t>
            </a:r>
            <a:r>
              <a:rPr lang="ko-KR" altLang="en-US" sz="2800">
                <a:latin typeface="한컴 윤고딕 740"/>
                <a:ea typeface="한컴 윤고딕 740"/>
              </a:rPr>
              <a:t> nose, mo</a:t>
            </a:r>
            <a:r>
              <a:rPr lang="en-US" altLang="ko-KR" sz="2800">
                <a:latin typeface="한컴 윤고딕 740"/>
                <a:ea typeface="한컴 윤고딕 740"/>
              </a:rPr>
              <a:t>u</a:t>
            </a:r>
            <a:r>
              <a:rPr lang="ko-KR" altLang="en-US" sz="2800">
                <a:latin typeface="한컴 윤고딕 740"/>
                <a:ea typeface="한컴 윤고딕 740"/>
              </a:rPr>
              <a:t>th, pacifier, hand, </a:t>
            </a:r>
            <a:r>
              <a:rPr lang="en-US" altLang="ko-KR" sz="2800">
                <a:latin typeface="한컴 윤고딕 740"/>
                <a:ea typeface="한컴 윤고딕 740"/>
              </a:rPr>
              <a:t>chopsticks</a:t>
            </a:r>
            <a:r>
              <a:rPr lang="ko-KR" altLang="en-US" sz="2800">
                <a:latin typeface="한컴 윤고딕 740"/>
                <a:ea typeface="한컴 윤고딕 740"/>
              </a:rPr>
              <a:t>,</a:t>
            </a:r>
            <a:r>
              <a:rPr lang="en-US" altLang="ko-KR" sz="2800">
                <a:latin typeface="한컴 윤고딕 740"/>
                <a:ea typeface="한컴 윤고딕 740"/>
              </a:rPr>
              <a:t> bottle_cap, 		ring, coin, fork</a:t>
            </a:r>
            <a:endParaRPr lang="en-US" altLang="ko-KR" sz="28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800" b="1">
              <a:latin typeface="한컴 윤고딕 740"/>
              <a:ea typeface="한컴 윤고딕 740"/>
            </a:endParaRPr>
          </a:p>
          <a:p>
            <a:pPr lvl="0">
              <a:defRPr/>
            </a:pPr>
            <a:r>
              <a:rPr lang="ko-KR" altLang="en-US" sz="2800" b="1">
                <a:latin typeface="한컴 윤고딕 740"/>
                <a:ea typeface="한컴 윤고딕 740"/>
              </a:rPr>
              <a:t>Github 주소: </a:t>
            </a:r>
            <a:r>
              <a:rPr lang="ko-KR" altLang="en-US" sz="2800">
                <a:latin typeface="한컴 윤고딕 740"/>
                <a:ea typeface="한컴 윤고딕 740"/>
                <a:hlinkClick r:id="rId4"/>
              </a:rPr>
              <a:t>https://github.com/Kim-gami/i_care_project</a:t>
            </a:r>
            <a:endParaRPr lang="ko-KR" altLang="en-US" sz="2800">
              <a:latin typeface="한컴 윤고딕 740"/>
              <a:ea typeface="한컴 윤고딕 740"/>
            </a:endParaRPr>
          </a:p>
          <a:p>
            <a:pPr lvl="0">
              <a:defRPr/>
            </a:pPr>
            <a:endParaRPr lang="ko-KR" altLang="en-US" sz="2800" b="1">
              <a:latin typeface="한컴 윤고딕 740"/>
              <a:ea typeface="한컴 윤고딕 740"/>
            </a:endParaRPr>
          </a:p>
        </p:txBody>
      </p:sp>
    </p:spTree>
    <p:extLst>
      <p:ext uri="{BB962C8B-B14F-4D97-AF65-F5344CB8AC3E}">
        <p14:creationId xmlns:p14="http://schemas.microsoft.com/office/powerpoint/2010/main" val="555980489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grpSp>
        <p:nvGrpSpPr>
          <p:cNvPr id="59" name="Group 59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5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86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87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88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89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90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4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95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96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98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99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100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01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02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09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110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11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12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13" name="Group 71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114" name="Freeform 72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  <a:ln cap="rnd">
              <a:noFill/>
              <a:prstDash val="solid"/>
              <a:round/>
            </a:ln>
          </p:spPr>
        </p:sp>
        <p:sp>
          <p:nvSpPr>
            <p:cNvPr id="115" name="TextBox 73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16" name="Group 77"/>
          <p:cNvGrpSpPr/>
          <p:nvPr/>
        </p:nvGrpSpPr>
        <p:grpSpPr>
          <a:xfrm rot="0">
            <a:off x="3269834" y="6137914"/>
            <a:ext cx="173797" cy="173797"/>
            <a:chOff x="0" y="0"/>
            <a:chExt cx="6350000" cy="6350000"/>
          </a:xfrm>
        </p:grpSpPr>
        <p:sp>
          <p:nvSpPr>
            <p:cNvPr id="117" name="Freeform 7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119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0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121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122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123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126" name="그룹 125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12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128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29" name="그림 12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30908" y="1257300"/>
            <a:ext cx="8594492" cy="1938395"/>
          </a:xfrm>
          <a:prstGeom prst="rect">
            <a:avLst/>
          </a:prstGeom>
        </p:spPr>
      </p:pic>
      <p:pic>
        <p:nvPicPr>
          <p:cNvPr id="130" name="그림 12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146664" y="4047940"/>
            <a:ext cx="8654935" cy="3000560"/>
          </a:xfrm>
          <a:prstGeom prst="rect">
            <a:avLst/>
          </a:prstGeom>
        </p:spPr>
      </p:pic>
      <p:sp>
        <p:nvSpPr>
          <p:cNvPr id="132" name="가로 글상자 131"/>
          <p:cNvSpPr txBox="1"/>
          <p:nvPr/>
        </p:nvSpPr>
        <p:spPr>
          <a:xfrm>
            <a:off x="12877800" y="1488756"/>
            <a:ext cx="4953000" cy="3654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100" b="1">
                <a:latin typeface="맑은 고딕"/>
              </a:rPr>
              <a:t>모델의 성능 지표</a:t>
            </a:r>
            <a:endParaRPr lang="ko-KR" altLang="en-US" sz="2100" b="1">
              <a:latin typeface="맑은 고딕"/>
            </a:endParaRPr>
          </a:p>
          <a:p>
            <a:pPr lvl="0" algn="l">
              <a:lnSpc>
                <a:spcPts val="3199"/>
              </a:lnSpc>
              <a:defRPr/>
            </a:pPr>
            <a:r>
              <a:rPr 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</a:t>
            </a:r>
            <a:r>
              <a:rPr lang="en-US" altLang="ko-KR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YOLO11n</a:t>
            </a: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</a:t>
            </a:r>
            <a:r>
              <a:rPr lang="en-US" altLang="ko-KR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-&gt;</a:t>
            </a: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</a:t>
            </a:r>
            <a:r>
              <a:rPr lang="en-US" altLang="ko-KR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YOLO11s</a:t>
            </a:r>
            <a:endParaRPr lang="en-US" altLang="ko-KR">
              <a:solidFill>
                <a:srgbClr val="10101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  <a:p>
            <a:pPr lvl="0" algn="l">
              <a:lnSpc>
                <a:spcPts val="3199"/>
              </a:lnSpc>
              <a:defRPr/>
            </a:pPr>
            <a:r>
              <a:rPr 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</a:t>
            </a:r>
            <a:r>
              <a:rPr lang="ko-KR" altLang="en-US"/>
              <a:t>데이터 불균형</a:t>
            </a:r>
            <a:endParaRPr lang="ko-KR" altLang="en-US"/>
          </a:p>
          <a:p>
            <a:pPr lvl="0" algn="l">
              <a:lnSpc>
                <a:spcPts val="3199"/>
              </a:lnSpc>
              <a:defRPr/>
            </a:pPr>
            <a:r>
              <a:rPr lang="ko-KR" altLang="en-US"/>
              <a:t>	</a:t>
            </a:r>
            <a:r>
              <a:rPr lang="en-US" altLang="ko-KR"/>
              <a:t>-&gt;</a:t>
            </a:r>
            <a:r>
              <a:rPr lang="ko-KR" altLang="en-US"/>
              <a:t>데이터 보강</a:t>
            </a:r>
            <a:endParaRPr lang="ko-KR" altLang="en-US"/>
          </a:p>
          <a:p>
            <a:pPr lvl="0" algn="l">
              <a:lnSpc>
                <a:spcPts val="3199"/>
              </a:lnSpc>
              <a:defRPr/>
            </a:pPr>
            <a:endParaRPr lang="ko-KR" altLang="en-US"/>
          </a:p>
          <a:p>
            <a:pPr lvl="0" algn="l">
              <a:lnSpc>
                <a:spcPts val="3199"/>
              </a:lnSpc>
              <a:defRPr/>
            </a:pPr>
            <a:r>
              <a:rPr 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• </a:t>
            </a: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팀원간 통일 되지 않은 라벨링</a:t>
            </a:r>
            <a:endParaRPr lang="ko-KR" altLang="en-US">
              <a:solidFill>
                <a:srgbClr val="10101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  <a:p>
            <a:pPr lvl="0" algn="l">
              <a:lnSpc>
                <a:spcPts val="3199"/>
              </a:lnSpc>
              <a:defRPr/>
            </a:pP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	</a:t>
            </a:r>
            <a:r>
              <a:rPr lang="en-US" altLang="ko-KR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-&gt;</a:t>
            </a: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룰을 정하고 라벨링</a:t>
            </a:r>
            <a:endParaRPr lang="ko-KR" altLang="en-US">
              <a:solidFill>
                <a:srgbClr val="10101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  <a:p>
            <a:pPr lvl="0" algn="l">
              <a:lnSpc>
                <a:spcPts val="3199"/>
              </a:lnSpc>
              <a:defRPr/>
            </a:pPr>
            <a:endParaRPr lang="ko-KR" altLang="en-US">
              <a:solidFill>
                <a:srgbClr val="10101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  <a:p>
            <a:pPr lvl="0" algn="l">
              <a:lnSpc>
                <a:spcPts val="3199"/>
              </a:lnSpc>
              <a:defRPr/>
            </a:pPr>
            <a:r>
              <a:rPr 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 </a:t>
            </a:r>
            <a:r>
              <a:rPr lang="ko-KR" altLang="en-US">
                <a:solidFill>
                  <a:srgbClr val="101010"/>
                </a:solidFill>
                <a:latin typeface="윤고딕 Medium"/>
                <a:ea typeface="윤고딕 Medium"/>
                <a:cs typeface="윤고딕 Medium"/>
                <a:sym typeface="윤고딕 Medium"/>
              </a:rPr>
              <a:t>성능이 오르는 결과로 나타남</a:t>
            </a:r>
            <a:endParaRPr lang="ko-KR" altLang="en-US">
              <a:solidFill>
                <a:srgbClr val="101010"/>
              </a:solidFill>
              <a:latin typeface="윤고딕 Medium"/>
              <a:ea typeface="윤고딕 Medium"/>
              <a:cs typeface="윤고딕 Medium"/>
              <a:sym typeface="윤고딕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9798182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cap="rnd" w="9525">
            <a:solidFill>
              <a:srgbClr val="5271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id="3" name="Group 3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테스트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3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34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35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36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37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38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43" name="Group 20"/>
          <p:cNvGrpSpPr/>
          <p:nvPr/>
        </p:nvGrpSpPr>
        <p:grpSpPr>
          <a:xfrm rot="0">
            <a:off x="838200" y="8047009"/>
            <a:ext cx="3257588" cy="830291"/>
            <a:chOff x="0" y="0"/>
            <a:chExt cx="857965" cy="218677"/>
          </a:xfrm>
        </p:grpSpPr>
        <p:sp>
          <p:nvSpPr>
            <p:cNvPr id="44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45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46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47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48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49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50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57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58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9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60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1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2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3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64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5" name="Group 18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66" name="Freeform 19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</p:spPr>
        </p:sp>
        <p:sp>
          <p:nvSpPr>
            <p:cNvPr id="67" name="TextBox 20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grpSp>
        <p:nvGrpSpPr>
          <p:cNvPr id="68" name="Group 21"/>
          <p:cNvGrpSpPr/>
          <p:nvPr/>
        </p:nvGrpSpPr>
        <p:grpSpPr>
          <a:xfrm rot="0">
            <a:off x="3269834" y="7268800"/>
            <a:ext cx="173797" cy="173797"/>
            <a:chOff x="0" y="0"/>
            <a:chExt cx="6350000" cy="6350000"/>
          </a:xfrm>
        </p:grpSpPr>
        <p:sp>
          <p:nvSpPr>
            <p:cNvPr id="69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71" name="TextBox 27"/>
          <p:cNvSpPr txBox="1"/>
          <p:nvPr/>
        </p:nvSpPr>
        <p:spPr>
          <a:xfrm>
            <a:off x="1242398" y="7222348"/>
            <a:ext cx="1958002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2" name="그룹 71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73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74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0459" y="8962478"/>
            <a:ext cx="12821592" cy="0"/>
          </a:xfrm>
          <a:prstGeom prst="line">
            <a:avLst/>
          </a:prstGeom>
          <a:ln w="9525" cap="rnd">
            <a:solidFill>
              <a:srgbClr val="5271ff"/>
            </a:solidFill>
            <a:prstDash val="solid"/>
            <a:headEnd w="sm" len="sm"/>
            <a:tailEnd w="sm" len="sm"/>
          </a:ln>
        </p:spPr>
      </p:sp>
      <p:grpSp>
        <p:nvGrpSpPr>
          <p:cNvPr id="3" name="Group 3"/>
          <p:cNvGrpSpPr/>
          <p:nvPr/>
        </p:nvGrpSpPr>
        <p:grpSpPr>
          <a:xfrm rot="10800000">
            <a:off x="0" y="0"/>
            <a:ext cx="3652123" cy="10287000"/>
            <a:chOff x="0" y="0"/>
            <a:chExt cx="96187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1876" cy="2709333"/>
            </a:xfrm>
            <a:custGeom>
              <a:avLst/>
              <a:gdLst/>
              <a:rect l="l" t="t" r="r" b="b"/>
              <a:pathLst>
                <a:path w="961876" h="2709333">
                  <a:moveTo>
                    <a:pt x="0" y="0"/>
                  </a:moveTo>
                  <a:lnTo>
                    <a:pt x="961876" y="0"/>
                  </a:lnTo>
                  <a:lnTo>
                    <a:pt x="9618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61876" cy="276648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032636" y="1079790"/>
            <a:ext cx="8222728" cy="609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  <a:defRPr/>
            </a:pPr>
            <a:r>
              <a:rPr lang="ko-KR" altLang="en-US" sz="3999">
                <a:solidFill>
                  <a:srgbClr val="12127d"/>
                </a:solidFill>
                <a:latin typeface="TDTD평고딕"/>
                <a:ea typeface="TDTD평고딕"/>
                <a:cs typeface="TDTD평고딕"/>
                <a:sym typeface="TDTD평고딕"/>
              </a:rPr>
              <a:t>개별 평가</a:t>
            </a:r>
            <a:endParaRPr lang="ko-KR" altLang="en-US" sz="3999">
              <a:solidFill>
                <a:srgbClr val="12127d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33" name="TextBox 28"/>
          <p:cNvSpPr txBox="1"/>
          <p:nvPr/>
        </p:nvSpPr>
        <p:spPr>
          <a:xfrm>
            <a:off x="14487426" y="9248775"/>
            <a:ext cx="308509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160"/>
              </a:lnSpc>
              <a:spcBef>
                <a:spcPct val="0"/>
              </a:spcBef>
              <a:defRPr/>
            </a:pPr>
            <a:r>
              <a:rPr lang="en-US" altLang="ko-KR" sz="1400" b="1" spc="233">
                <a:solidFill>
                  <a:srgbClr val="5371ff"/>
                </a:solidFill>
                <a:latin typeface="한컴 윤고딕 760"/>
                <a:ea typeface="한컴 윤고딕 760"/>
                <a:cs typeface="Arita Dotum Bold"/>
                <a:sym typeface="Arita Dotum Bold"/>
              </a:rPr>
              <a:t>K-Digital Training</a:t>
            </a:r>
            <a:endParaRPr lang="en-US" sz="1400" spc="266">
              <a:solidFill>
                <a:srgbClr val="12127d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grpSp>
        <p:nvGrpSpPr>
          <p:cNvPr id="34" name="Group 5"/>
          <p:cNvGrpSpPr/>
          <p:nvPr/>
        </p:nvGrpSpPr>
        <p:grpSpPr>
          <a:xfrm rot="0">
            <a:off x="809043" y="2417008"/>
            <a:ext cx="3257588" cy="830291"/>
            <a:chOff x="0" y="0"/>
            <a:chExt cx="857965" cy="218677"/>
          </a:xfrm>
        </p:grpSpPr>
        <p:sp>
          <p:nvSpPr>
            <p:cNvPr id="35" name="Freeform 6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36" name="TextBox 7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sp>
        <p:nvSpPr>
          <p:cNvPr id="37" name="TextBox 29"/>
          <p:cNvSpPr txBox="1"/>
          <p:nvPr/>
        </p:nvSpPr>
        <p:spPr>
          <a:xfrm>
            <a:off x="921985" y="780324"/>
            <a:ext cx="1946101" cy="2864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303"/>
              </a:lnSpc>
              <a:defRPr/>
            </a:pPr>
            <a:r>
              <a:rPr lang="en-US" altLang="ko-KR" sz="1599" spc="127">
                <a:solidFill>
                  <a:srgbClr val="ffffff"/>
                </a:solidFill>
                <a:latin typeface="한컴 윤고딕 760"/>
                <a:ea typeface="한컴 윤고딕 760"/>
                <a:cs typeface="Arita Dotum Light"/>
                <a:sym typeface="Arita Dotum Light"/>
              </a:rPr>
              <a:t>I - CARE</a:t>
            </a:r>
            <a:endParaRPr lang="en-US" altLang="ko-KR" sz="1599" spc="127">
              <a:solidFill>
                <a:srgbClr val="ffffff"/>
              </a:solidFill>
              <a:latin typeface="한컴 윤고딕 760"/>
              <a:ea typeface="한컴 윤고딕 760"/>
              <a:cs typeface="Arita Dotum Light"/>
              <a:sym typeface="Arita Dotum Light"/>
            </a:endParaRPr>
          </a:p>
        </p:txBody>
      </p:sp>
      <p:sp>
        <p:nvSpPr>
          <p:cNvPr id="38" name="TextBox 12"/>
          <p:cNvSpPr txBox="1"/>
          <p:nvPr/>
        </p:nvSpPr>
        <p:spPr>
          <a:xfrm>
            <a:off x="1242398" y="2689279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개요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47" name="Group 9"/>
          <p:cNvGrpSpPr/>
          <p:nvPr/>
        </p:nvGrpSpPr>
        <p:grpSpPr>
          <a:xfrm rot="0">
            <a:off x="809043" y="3547894"/>
            <a:ext cx="3257588" cy="830291"/>
            <a:chOff x="0" y="0"/>
            <a:chExt cx="857965" cy="218677"/>
          </a:xfrm>
        </p:grpSpPr>
        <p:sp>
          <p:nvSpPr>
            <p:cNvPr id="48" name="Freeform 10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49" name="TextBox 11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50" name="TextBox 13"/>
          <p:cNvSpPr txBox="1"/>
          <p:nvPr/>
        </p:nvSpPr>
        <p:spPr>
          <a:xfrm>
            <a:off x="1242398" y="3831056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팀 구성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57" name="Group 14"/>
          <p:cNvGrpSpPr/>
          <p:nvPr/>
        </p:nvGrpSpPr>
        <p:grpSpPr>
          <a:xfrm rot="0">
            <a:off x="809043" y="4678781"/>
            <a:ext cx="3257588" cy="830291"/>
            <a:chOff x="0" y="0"/>
            <a:chExt cx="857965" cy="218677"/>
          </a:xfrm>
        </p:grpSpPr>
        <p:sp>
          <p:nvSpPr>
            <p:cNvPr id="58" name="Freeform 15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59" name="TextBox 16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60" name="TextBox 25"/>
          <p:cNvSpPr txBox="1"/>
          <p:nvPr/>
        </p:nvSpPr>
        <p:spPr>
          <a:xfrm>
            <a:off x="1242398" y="4968735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절차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61" name="Group 17"/>
          <p:cNvGrpSpPr/>
          <p:nvPr/>
        </p:nvGrpSpPr>
        <p:grpSpPr>
          <a:xfrm rot="0">
            <a:off x="809043" y="5809667"/>
            <a:ext cx="3257588" cy="830291"/>
            <a:chOff x="0" y="0"/>
            <a:chExt cx="857965" cy="218677"/>
          </a:xfrm>
        </p:grpSpPr>
        <p:sp>
          <p:nvSpPr>
            <p:cNvPr id="62" name="Freeform 18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63" name="TextBox 19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64" name="TextBox 26"/>
          <p:cNvSpPr txBox="1"/>
          <p:nvPr/>
        </p:nvSpPr>
        <p:spPr>
          <a:xfrm>
            <a:off x="1242398" y="6099621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프로젝트 수행 경과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72" name="Group 18"/>
          <p:cNvGrpSpPr/>
          <p:nvPr/>
        </p:nvGrpSpPr>
        <p:grpSpPr>
          <a:xfrm rot="0">
            <a:off x="838200" y="8039100"/>
            <a:ext cx="3257588" cy="830291"/>
            <a:chOff x="0" y="0"/>
            <a:chExt cx="857965" cy="218677"/>
          </a:xfrm>
        </p:grpSpPr>
        <p:sp>
          <p:nvSpPr>
            <p:cNvPr id="73" name="Freeform 19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/>
            </a:solidFill>
          </p:spPr>
        </p:sp>
        <p:sp>
          <p:nvSpPr>
            <p:cNvPr id="74" name="TextBox 20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/>
            </a:p>
          </p:txBody>
        </p:sp>
      </p:grpSp>
      <p:grpSp>
        <p:nvGrpSpPr>
          <p:cNvPr id="75" name="Group 20"/>
          <p:cNvGrpSpPr/>
          <p:nvPr/>
        </p:nvGrpSpPr>
        <p:grpSpPr>
          <a:xfrm rot="0">
            <a:off x="809043" y="6940553"/>
            <a:ext cx="3257588" cy="830291"/>
            <a:chOff x="0" y="0"/>
            <a:chExt cx="857965" cy="218677"/>
          </a:xfrm>
        </p:grpSpPr>
        <p:sp>
          <p:nvSpPr>
            <p:cNvPr id="76" name="Freeform 21"/>
            <p:cNvSpPr/>
            <p:nvPr/>
          </p:nvSpPr>
          <p:spPr>
            <a:xfrm>
              <a:off x="0" y="0"/>
              <a:ext cx="857965" cy="218677"/>
            </a:xfrm>
            <a:custGeom>
              <a:avLst/>
              <a:gdLst/>
              <a:rect l="l" t="t" r="r" b="b"/>
              <a:pathLst>
                <a:path w="857965" h="218677">
                  <a:moveTo>
                    <a:pt x="109339" y="0"/>
                  </a:moveTo>
                  <a:lnTo>
                    <a:pt x="748627" y="0"/>
                  </a:lnTo>
                  <a:cubicBezTo>
                    <a:pt x="777625" y="0"/>
                    <a:pt x="805436" y="11520"/>
                    <a:pt x="825941" y="32025"/>
                  </a:cubicBezTo>
                  <a:cubicBezTo>
                    <a:pt x="846446" y="52530"/>
                    <a:pt x="857965" y="80340"/>
                    <a:pt x="857965" y="109339"/>
                  </a:cubicBezTo>
                  <a:lnTo>
                    <a:pt x="857965" y="109339"/>
                  </a:lnTo>
                  <a:cubicBezTo>
                    <a:pt x="857965" y="169725"/>
                    <a:pt x="809013" y="218677"/>
                    <a:pt x="748627" y="218677"/>
                  </a:cubicBezTo>
                  <a:lnTo>
                    <a:pt x="109339" y="218677"/>
                  </a:lnTo>
                  <a:cubicBezTo>
                    <a:pt x="48953" y="218677"/>
                    <a:pt x="0" y="169725"/>
                    <a:pt x="0" y="109339"/>
                  </a:cubicBezTo>
                  <a:lnTo>
                    <a:pt x="0" y="109339"/>
                  </a:lnTo>
                  <a:cubicBezTo>
                    <a:pt x="0" y="48953"/>
                    <a:pt x="48953" y="0"/>
                    <a:pt x="109339" y="0"/>
                  </a:cubicBezTo>
                  <a:close/>
                </a:path>
              </a:pathLst>
            </a:custGeom>
            <a:solidFill>
              <a:srgbClr val="fffaed">
                <a:alpha val="46670"/>
              </a:srgbClr>
            </a:solidFill>
          </p:spPr>
        </p:sp>
        <p:sp>
          <p:nvSpPr>
            <p:cNvPr id="77" name="TextBox 22"/>
            <p:cNvSpPr txBox="1"/>
            <p:nvPr/>
          </p:nvSpPr>
          <p:spPr>
            <a:xfrm>
              <a:off x="0" y="-57150"/>
              <a:ext cx="857965" cy="27582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 lang="ko-KR" altLang="en-US">
                <a:latin typeface="한컴 윤고딕 760"/>
                <a:ea typeface="한컴 윤고딕 760"/>
              </a:endParaRPr>
            </a:p>
          </p:txBody>
        </p:sp>
      </p:grpSp>
      <p:sp>
        <p:nvSpPr>
          <p:cNvPr id="78" name="TextBox 27"/>
          <p:cNvSpPr txBox="1"/>
          <p:nvPr/>
        </p:nvSpPr>
        <p:spPr>
          <a:xfrm>
            <a:off x="1242398" y="7222348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ffff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테스트</a:t>
            </a:r>
            <a:endParaRPr lang="ko-KR" altLang="en-US" sz="1800">
              <a:solidFill>
                <a:srgbClr val="ffff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sp>
        <p:nvSpPr>
          <p:cNvPr id="79" name="TextBox 27"/>
          <p:cNvSpPr txBox="1"/>
          <p:nvPr/>
        </p:nvSpPr>
        <p:spPr>
          <a:xfrm>
            <a:off x="1271555" y="8328804"/>
            <a:ext cx="2333728" cy="276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  <a:defRPr/>
            </a:pPr>
            <a:r>
              <a:rPr lang="ko-KR" altLang="en-US" sz="1800">
                <a:solidFill>
                  <a:srgbClr val="5371ff"/>
                </a:solidFill>
                <a:latin typeface="한컴 윤고딕 760"/>
                <a:ea typeface="한컴 윤고딕 760"/>
                <a:cs typeface="TDTD평고딕"/>
                <a:sym typeface="TDTD평고딕"/>
              </a:rPr>
              <a:t>자체 평가 의견</a:t>
            </a:r>
            <a:endParaRPr lang="ko-KR" altLang="en-US" sz="1800">
              <a:solidFill>
                <a:srgbClr val="5371ff"/>
              </a:solidFill>
              <a:latin typeface="한컴 윤고딕 760"/>
              <a:ea typeface="한컴 윤고딕 760"/>
              <a:cs typeface="TDTD평고딕"/>
              <a:sym typeface="TDTD평고딕"/>
            </a:endParaRPr>
          </a:p>
        </p:txBody>
      </p:sp>
      <p:grpSp>
        <p:nvGrpSpPr>
          <p:cNvPr id="80" name="Group 21"/>
          <p:cNvGrpSpPr/>
          <p:nvPr/>
        </p:nvGrpSpPr>
        <p:grpSpPr>
          <a:xfrm rot="0">
            <a:off x="3255203" y="8343900"/>
            <a:ext cx="173797" cy="173797"/>
            <a:chOff x="0" y="0"/>
            <a:chExt cx="6350000" cy="6350000"/>
          </a:xfrm>
        </p:grpSpPr>
        <p:sp>
          <p:nvSpPr>
            <p:cNvPr id="81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id="82" name="그룹 81"/>
          <p:cNvGrpSpPr/>
          <p:nvPr/>
        </p:nvGrpSpPr>
        <p:grpSpPr>
          <a:xfrm rot="0">
            <a:off x="12801600" y="9258300"/>
            <a:ext cx="2277356" cy="319289"/>
            <a:chOff x="921102" y="6027409"/>
            <a:chExt cx="2680001" cy="375740"/>
          </a:xfrm>
        </p:grpSpPr>
        <p:pic>
          <p:nvPicPr>
            <p:cNvPr id="83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84" name="그래픽 2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8531599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53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269833" y="7402098"/>
            <a:ext cx="173797" cy="17379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2733203" y="5984851"/>
            <a:ext cx="12821592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w="sm" len="sm"/>
            <a:tailEnd w="sm" len="sm"/>
          </a:ln>
        </p:spPr>
      </p:sp>
      <p:sp>
        <p:nvSpPr>
          <p:cNvPr id="5" name="Freeform 5"/>
          <p:cNvSpPr/>
          <p:nvPr/>
        </p:nvSpPr>
        <p:spPr>
          <a:xfrm>
            <a:off x="8616079" y="3448345"/>
            <a:ext cx="1055841" cy="693015"/>
          </a:xfrm>
          <a:custGeom>
            <a:avLst/>
            <a:gdLst/>
            <a:rect l="l" t="t" r="r" b="b"/>
            <a:pathLst>
              <a:path w="1055841" h="693015">
                <a:moveTo>
                  <a:pt x="0" y="0"/>
                </a:moveTo>
                <a:lnTo>
                  <a:pt x="1055840" y="0"/>
                </a:lnTo>
                <a:lnTo>
                  <a:pt x="1055840" y="693015"/>
                </a:lnTo>
                <a:lnTo>
                  <a:pt x="0" y="693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21701" y="4803775"/>
            <a:ext cx="6044595" cy="6794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sz="3999" b="1">
                <a:solidFill>
                  <a:srgbClr val="ffffff"/>
                </a:solidFill>
                <a:latin typeface="Arita Dotum Bold"/>
                <a:ea typeface="Arita Dotum Bold"/>
                <a:cs typeface="Arita Dotum Bold"/>
                <a:sym typeface="Arita Dotum Bold"/>
              </a:rPr>
              <a:t>경청해 주셔서 감사합니다</a:t>
            </a:r>
            <a:endParaRPr lang="en-US" sz="3999" b="1">
              <a:solidFill>
                <a:srgbClr val="ffffff"/>
              </a:solidFill>
              <a:latin typeface="Arita Dotum Bold"/>
              <a:ea typeface="Arita Dotum Bold"/>
              <a:cs typeface="Arita Dotum Bold"/>
              <a:sym typeface="Arita Dotum Bol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701</ep:Words>
  <ep:PresentationFormat>On-screen Show (4:3)</ep:PresentationFormat>
  <ep:Paragraphs>244</ep:Paragraphs>
  <ep:Slides>18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INO05</cp:lastModifiedBy>
  <dcterms:modified xsi:type="dcterms:W3CDTF">2025-10-14T02:56:13.155</dcterms:modified>
  <cp:revision>25</cp:revision>
  <dc:title>블루 파랑 깔끔한 기본 면접발표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