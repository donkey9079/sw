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0" r:id="rId23"/>
    <p:sldId id="276" r:id="rId24"/>
    <p:sldId id="277" r:id="rId25"/>
    <p:sldId id="281" r:id="rId26"/>
    <p:sldId id="278" r:id="rId27"/>
    <p:sldId id="279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presProps" Target="presProps.xml"  /><Relationship Id="rId3" Type="http://schemas.openxmlformats.org/officeDocument/2006/relationships/slide" Target="slides/slide1.xml"  /><Relationship Id="rId30" Type="http://schemas.openxmlformats.org/officeDocument/2006/relationships/viewProps" Target="viewProps.xml"  /><Relationship Id="rId31" Type="http://schemas.openxmlformats.org/officeDocument/2006/relationships/theme" Target="theme/theme1.xml"  /><Relationship Id="rId32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7268E1E-0E44-426D-905E-8AD9B19D2182}" type="datetime1">
              <a:rPr lang="cs-CZ"/>
              <a:pPr lvl="0">
                <a:defRPr/>
              </a:pPr>
              <a:t>2025-10-22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71B2431-D351-4C6E-A3CF-9DFAC0E3E050}" type="slidenum">
              <a:rPr lang="cs-CZ"/>
              <a:pPr lvl="0"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svg"  /><Relationship Id="rId5" Type="http://schemas.openxmlformats.org/officeDocument/2006/relationships/image" Target="../media/image3.png"  /><Relationship Id="rId6" Type="http://schemas.openxmlformats.org/officeDocument/2006/relationships/image" Target="../media/image4.svg"  /><Relationship Id="rId7" Type="http://schemas.openxmlformats.org/officeDocument/2006/relationships/image" Target="../media/image5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svg"  /><Relationship Id="rId4" Type="http://schemas.openxmlformats.org/officeDocument/2006/relationships/image" Target="../media/image8.png"  /><Relationship Id="rId5" Type="http://schemas.openxmlformats.org/officeDocument/2006/relationships/image" Target="../media/image9.sv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4.png"  /><Relationship Id="rId13" Type="http://schemas.openxmlformats.org/officeDocument/2006/relationships/image" Target="../media/image15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18.png"  /><Relationship Id="rId19" Type="http://schemas.openxmlformats.org/officeDocument/2006/relationships/image" Target="../media/image19.svg"  /><Relationship Id="rId2" Type="http://schemas.openxmlformats.org/officeDocument/2006/relationships/image" Target="../media/image10.png"  /><Relationship Id="rId20" Type="http://schemas.openxmlformats.org/officeDocument/2006/relationships/image" Target="../media/image20.png"  /><Relationship Id="rId21" Type="http://schemas.openxmlformats.org/officeDocument/2006/relationships/image" Target="../media/image21.svg"  /><Relationship Id="rId3" Type="http://schemas.openxmlformats.org/officeDocument/2006/relationships/image" Target="../media/image11.svg"  /><Relationship Id="rId4" Type="http://schemas.openxmlformats.org/officeDocument/2006/relationships/image" Target="../media/image12.png"  /><Relationship Id="rId5" Type="http://schemas.openxmlformats.org/officeDocument/2006/relationships/image" Target="../media/image13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7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22.png"  /><Relationship Id="rId5" Type="http://schemas.openxmlformats.org/officeDocument/2006/relationships/image" Target="../media/image12.png"  /><Relationship Id="rId6" Type="http://schemas.openxmlformats.org/officeDocument/2006/relationships/image" Target="../media/image13.svg"  /><Relationship Id="rId7" Type="http://schemas.openxmlformats.org/officeDocument/2006/relationships/image" Target="../media/image14.png"  /><Relationship Id="rId8" Type="http://schemas.openxmlformats.org/officeDocument/2006/relationships/image" Target="../media/image15.svg"  /><Relationship Id="rId9" Type="http://schemas.openxmlformats.org/officeDocument/2006/relationships/image" Target="../media/image1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4.png"  /><Relationship Id="rId13" Type="http://schemas.openxmlformats.org/officeDocument/2006/relationships/image" Target="../media/image15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23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2.png"  /><Relationship Id="rId5" Type="http://schemas.openxmlformats.org/officeDocument/2006/relationships/image" Target="../media/image13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4.png"  /><Relationship Id="rId13" Type="http://schemas.openxmlformats.org/officeDocument/2006/relationships/image" Target="../media/image15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2.png"  /><Relationship Id="rId7" Type="http://schemas.openxmlformats.org/officeDocument/2006/relationships/image" Target="../media/image13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2.png"  /><Relationship Id="rId7" Type="http://schemas.openxmlformats.org/officeDocument/2006/relationships/image" Target="../media/image13.svg"  /><Relationship Id="rId8" Type="http://schemas.openxmlformats.org/officeDocument/2006/relationships/image" Target="../media/image16.png"  /><Relationship Id="rId9" Type="http://schemas.openxmlformats.org/officeDocument/2006/relationships/image" Target="../media/image1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24.png"  /><Relationship Id="rId17" Type="http://schemas.openxmlformats.org/officeDocument/2006/relationships/image" Target="../media/image25.png"  /><Relationship Id="rId18" Type="http://schemas.openxmlformats.org/officeDocument/2006/relationships/image" Target="../media/image26.svg"  /><Relationship Id="rId19" Type="http://schemas.openxmlformats.org/officeDocument/2006/relationships/image" Target="../media/image27.png"  /><Relationship Id="rId2" Type="http://schemas.openxmlformats.org/officeDocument/2006/relationships/image" Target="../media/image10.png"  /><Relationship Id="rId20" Type="http://schemas.openxmlformats.org/officeDocument/2006/relationships/image" Target="../media/image28.sv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2.png"  /><Relationship Id="rId7" Type="http://schemas.openxmlformats.org/officeDocument/2006/relationships/image" Target="../media/image13.sv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29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30.png"  /><Relationship Id="rId17" Type="http://schemas.openxmlformats.org/officeDocument/2006/relationships/image" Target="../media/image31.jpe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32.png"  /><Relationship Id="rId17" Type="http://schemas.openxmlformats.org/officeDocument/2006/relationships/image" Target="../media/image33.png"  /><Relationship Id="rId18" Type="http://schemas.openxmlformats.org/officeDocument/2006/relationships/image" Target="../media/image34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35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36.png"  /><Relationship Id="rId17" Type="http://schemas.openxmlformats.org/officeDocument/2006/relationships/image" Target="../media/image37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38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39.png"  /><Relationship Id="rId19" Type="http://schemas.openxmlformats.org/officeDocument/2006/relationships/image" Target="../media/image40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41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42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43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44.png"  /><Relationship Id="rId19" Type="http://schemas.openxmlformats.org/officeDocument/2006/relationships/image" Target="../media/image45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0.png"  /><Relationship Id="rId11" Type="http://schemas.openxmlformats.org/officeDocument/2006/relationships/image" Target="../media/image51.png"  /><Relationship Id="rId12" Type="http://schemas.openxmlformats.org/officeDocument/2006/relationships/image" Target="../media/image52.png"  /><Relationship Id="rId2" Type="http://schemas.openxmlformats.org/officeDocument/2006/relationships/image" Target="../media/image46.png"  /><Relationship Id="rId3" Type="http://schemas.openxmlformats.org/officeDocument/2006/relationships/image" Target="../media/image47.png"  /><Relationship Id="rId4" Type="http://schemas.openxmlformats.org/officeDocument/2006/relationships/image" Target="../media/image47.png"  /><Relationship Id="rId5" Type="http://schemas.openxmlformats.org/officeDocument/2006/relationships/image" Target="../media/image47.png"  /><Relationship Id="rId6" Type="http://schemas.openxmlformats.org/officeDocument/2006/relationships/image" Target="../media/image47.png"  /><Relationship Id="rId7" Type="http://schemas.openxmlformats.org/officeDocument/2006/relationships/image" Target="../media/image48.png"  /><Relationship Id="rId8" Type="http://schemas.openxmlformats.org/officeDocument/2006/relationships/image" Target="../media/image47.png"  /><Relationship Id="rId9" Type="http://schemas.openxmlformats.org/officeDocument/2006/relationships/image" Target="../media/image4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49.png"  /><Relationship Id="rId17" Type="http://schemas.openxmlformats.org/officeDocument/2006/relationships/image" Target="../media/image50.png"  /><Relationship Id="rId18" Type="http://schemas.openxmlformats.org/officeDocument/2006/relationships/image" Target="../media/image53.png"  /><Relationship Id="rId19" Type="http://schemas.openxmlformats.org/officeDocument/2006/relationships/image" Target="../media/image54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4.png"  /><Relationship Id="rId13" Type="http://schemas.openxmlformats.org/officeDocument/2006/relationships/image" Target="../media/image15.svg"  /><Relationship Id="rId14" Type="http://schemas.openxmlformats.org/officeDocument/2006/relationships/image" Target="../media/image12.png"  /><Relationship Id="rId15" Type="http://schemas.openxmlformats.org/officeDocument/2006/relationships/image" Target="../media/image13.svg"  /><Relationship Id="rId16" Type="http://schemas.openxmlformats.org/officeDocument/2006/relationships/image" Target="../media/image16.png"  /><Relationship Id="rId17" Type="http://schemas.openxmlformats.org/officeDocument/2006/relationships/image" Target="../media/image17.png"  /><Relationship Id="rId18" Type="http://schemas.openxmlformats.org/officeDocument/2006/relationships/image" Target="../media/image55.png"  /><Relationship Id="rId19" Type="http://schemas.openxmlformats.org/officeDocument/2006/relationships/image" Target="../media/image56.png"  /><Relationship Id="rId2" Type="http://schemas.openxmlformats.org/officeDocument/2006/relationships/image" Target="../media/image10.png"  /><Relationship Id="rId20" Type="http://schemas.openxmlformats.org/officeDocument/2006/relationships/image" Target="../media/image57.png"  /><Relationship Id="rId21" Type="http://schemas.openxmlformats.org/officeDocument/2006/relationships/image" Target="../media/image58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0.png"  /><Relationship Id="rId11" Type="http://schemas.openxmlformats.org/officeDocument/2006/relationships/hyperlink" Target="https://github.com/Kim-gami/i_care_project" TargetMode="External" /><Relationship Id="rId2" Type="http://schemas.openxmlformats.org/officeDocument/2006/relationships/image" Target="../media/image46.png"  /><Relationship Id="rId3" Type="http://schemas.openxmlformats.org/officeDocument/2006/relationships/image" Target="../media/image47.png"  /><Relationship Id="rId4" Type="http://schemas.openxmlformats.org/officeDocument/2006/relationships/image" Target="../media/image47.png"  /><Relationship Id="rId5" Type="http://schemas.openxmlformats.org/officeDocument/2006/relationships/image" Target="../media/image47.png"  /><Relationship Id="rId6" Type="http://schemas.openxmlformats.org/officeDocument/2006/relationships/image" Target="../media/image47.png"  /><Relationship Id="rId7" Type="http://schemas.openxmlformats.org/officeDocument/2006/relationships/image" Target="../media/image48.png"  /><Relationship Id="rId8" Type="http://schemas.openxmlformats.org/officeDocument/2006/relationships/image" Target="../media/image47.png"  /><Relationship Id="rId9" Type="http://schemas.openxmlformats.org/officeDocument/2006/relationships/image" Target="../media/image49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.png"  /><Relationship Id="rId11" Type="http://schemas.openxmlformats.org/officeDocument/2006/relationships/image" Target="../media/image15.svg"  /><Relationship Id="rId12" Type="http://schemas.openxmlformats.org/officeDocument/2006/relationships/image" Target="../media/image12.png"  /><Relationship Id="rId13" Type="http://schemas.openxmlformats.org/officeDocument/2006/relationships/image" Target="../media/image13.svg"  /><Relationship Id="rId14" Type="http://schemas.openxmlformats.org/officeDocument/2006/relationships/image" Target="../media/image14.png"  /><Relationship Id="rId15" Type="http://schemas.openxmlformats.org/officeDocument/2006/relationships/image" Target="../media/image15.svg"  /><Relationship Id="rId16" Type="http://schemas.openxmlformats.org/officeDocument/2006/relationships/image" Target="../media/image49.png"  /><Relationship Id="rId17" Type="http://schemas.openxmlformats.org/officeDocument/2006/relationships/image" Target="../media/image50.png"  /><Relationship Id="rId2" Type="http://schemas.openxmlformats.org/officeDocument/2006/relationships/image" Target="../media/image10.png"  /><Relationship Id="rId3" Type="http://schemas.openxmlformats.org/officeDocument/2006/relationships/image" Target="../media/image11.sv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4.png"  /><Relationship Id="rId7" Type="http://schemas.openxmlformats.org/officeDocument/2006/relationships/image" Target="../media/image15.svg"  /><Relationship Id="rId8" Type="http://schemas.openxmlformats.org/officeDocument/2006/relationships/image" Target="../media/image14.png"  /><Relationship Id="rId9" Type="http://schemas.openxmlformats.org/officeDocument/2006/relationships/image" Target="../media/image15.sv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9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6536" y="502404"/>
            <a:ext cx="9282226" cy="9282188"/>
          </a:xfrm>
          <a:custGeom>
            <a:avLst/>
            <a:gdLst/>
            <a:ahLst/>
            <a:cxnLst/>
            <a:rect r="r" b="b" t="t" l="l"/>
            <a:pathLst>
              <a:path h="9282188" w="9282226">
                <a:moveTo>
                  <a:pt x="0" y="0"/>
                </a:moveTo>
                <a:lnTo>
                  <a:pt x="9282227" y="0"/>
                </a:lnTo>
                <a:lnTo>
                  <a:pt x="9282227" y="9282188"/>
                </a:lnTo>
                <a:lnTo>
                  <a:pt x="0" y="9282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75871" y="-328278"/>
            <a:ext cx="10943555" cy="10943555"/>
          </a:xfrm>
          <a:custGeom>
            <a:avLst/>
            <a:gdLst/>
            <a:ahLst/>
            <a:cxnLst/>
            <a:rect r="r" b="b" t="t" l="l"/>
            <a:pathLst>
              <a:path h="10943555" w="10943555">
                <a:moveTo>
                  <a:pt x="0" y="0"/>
                </a:moveTo>
                <a:lnTo>
                  <a:pt x="10943556" y="0"/>
                </a:lnTo>
                <a:lnTo>
                  <a:pt x="10943556" y="10943556"/>
                </a:lnTo>
                <a:lnTo>
                  <a:pt x="0" y="10943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15800" y="511668"/>
            <a:ext cx="9263699" cy="9263661"/>
            <a:chOff x="0" y="0"/>
            <a:chExt cx="12351599" cy="123515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51639" cy="12351639"/>
            </a:xfrm>
            <a:custGeom>
              <a:avLst/>
              <a:gdLst/>
              <a:ahLst/>
              <a:cxnLst/>
              <a:rect r="r" b="b" t="t" l="l"/>
              <a:pathLst>
                <a:path h="12351639" w="12351639">
                  <a:moveTo>
                    <a:pt x="12351639" y="6175883"/>
                  </a:moveTo>
                  <a:cubicBezTo>
                    <a:pt x="12351639" y="9586468"/>
                    <a:pt x="9586595" y="12351639"/>
                    <a:pt x="6175883" y="12351639"/>
                  </a:cubicBezTo>
                  <a:cubicBezTo>
                    <a:pt x="2765171" y="12351639"/>
                    <a:pt x="0" y="9586468"/>
                    <a:pt x="0" y="6175883"/>
                  </a:cubicBezTo>
                  <a:cubicBezTo>
                    <a:pt x="0" y="2765044"/>
                    <a:pt x="2765044" y="0"/>
                    <a:pt x="6175756" y="0"/>
                  </a:cubicBezTo>
                  <a:cubicBezTo>
                    <a:pt x="9586468" y="0"/>
                    <a:pt x="12351639" y="2765044"/>
                    <a:pt x="12351639" y="6175883"/>
                  </a:cubicBezTo>
                  <a:close/>
                </a:path>
              </a:pathLst>
            </a:custGeom>
            <a:blipFill>
              <a:blip r:embed="rId7">
                <a:alphaModFix amt="17999"/>
              </a:blip>
              <a:stretch>
                <a:fillRect l="-22955" t="0" r="-2295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79549" y="2819820"/>
            <a:ext cx="8574050" cy="300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94"/>
              </a:lnSpc>
            </a:pPr>
            <a:r>
              <a:rPr lang="en-US" sz="7923" spc="-150">
                <a:solidFill>
                  <a:srgbClr val="12127D"/>
                </a:solidFill>
                <a:latin typeface="Arimo"/>
                <a:ea typeface="Arimo"/>
                <a:cs typeface="Arimo"/>
                <a:sym typeface="Arimo"/>
              </a:rPr>
              <a:t>영유아 위험 감지</a:t>
            </a:r>
          </a:p>
          <a:p>
            <a:pPr algn="l">
              <a:lnSpc>
                <a:spcPts val="11094"/>
              </a:lnSpc>
            </a:pPr>
            <a:r>
              <a:rPr lang="en-US" sz="7923" spc="-150">
                <a:solidFill>
                  <a:srgbClr val="12127D"/>
                </a:solidFill>
                <a:latin typeface="Arimo"/>
                <a:ea typeface="Arimo"/>
                <a:cs typeface="Arimo"/>
                <a:sym typeface="Arimo"/>
              </a:rPr>
              <a:t>알림 서비스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5242" y="2245664"/>
            <a:ext cx="8583575" cy="9525"/>
            <a:chOff x="0" y="0"/>
            <a:chExt cx="11444767" cy="12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44732" cy="12700"/>
            </a:xfrm>
            <a:custGeom>
              <a:avLst/>
              <a:gdLst/>
              <a:ahLst/>
              <a:cxnLst/>
              <a:rect r="r" b="b" t="t" l="l"/>
              <a:pathLst>
                <a:path h="12700" w="11444732">
                  <a:moveTo>
                    <a:pt x="6350" y="0"/>
                  </a:moveTo>
                  <a:lnTo>
                    <a:pt x="11438382" y="0"/>
                  </a:lnTo>
                  <a:cubicBezTo>
                    <a:pt x="11441938" y="0"/>
                    <a:pt x="11444732" y="2794"/>
                    <a:pt x="11444732" y="6350"/>
                  </a:cubicBezTo>
                  <a:cubicBezTo>
                    <a:pt x="11444732" y="9906"/>
                    <a:pt x="11441938" y="12700"/>
                    <a:pt x="11438382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45833" y="6800824"/>
            <a:ext cx="6450366" cy="146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b="true" sz="2565" spc="1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3조 - 아이케어</a:t>
            </a:r>
          </a:p>
          <a:p>
            <a:pPr algn="l">
              <a:lnSpc>
                <a:spcPts val="3694"/>
              </a:lnSpc>
            </a:pPr>
          </a:p>
          <a:p>
            <a:pPr algn="l">
              <a:lnSpc>
                <a:spcPts val="3694"/>
              </a:lnSpc>
            </a:pPr>
            <a:r>
              <a:rPr lang="en-US" b="true" sz="2000" spc="1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김현겸, 김현중, 김상원, 박철범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053" y="1826257"/>
            <a:ext cx="44089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b="true" sz="2799" spc="234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939" y="2387319"/>
            <a:ext cx="8583575" cy="9525"/>
            <a:chOff x="0" y="0"/>
            <a:chExt cx="11444767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44732" cy="12700"/>
            </a:xfrm>
            <a:custGeom>
              <a:avLst/>
              <a:gdLst/>
              <a:ahLst/>
              <a:cxnLst/>
              <a:rect r="r" b="b" t="t" l="l"/>
              <a:pathLst>
                <a:path h="12700" w="11444732">
                  <a:moveTo>
                    <a:pt x="6350" y="0"/>
                  </a:moveTo>
                  <a:lnTo>
                    <a:pt x="11438382" y="0"/>
                  </a:lnTo>
                  <a:cubicBezTo>
                    <a:pt x="11441938" y="0"/>
                    <a:pt x="11444732" y="2794"/>
                    <a:pt x="11444732" y="6350"/>
                  </a:cubicBezTo>
                  <a:cubicBezTo>
                    <a:pt x="11444732" y="9906"/>
                    <a:pt x="11441938" y="12700"/>
                    <a:pt x="11438382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448698" y="1077288"/>
            <a:ext cx="8227200" cy="8227165"/>
          </a:xfrm>
          <a:custGeom>
            <a:avLst/>
            <a:gdLst/>
            <a:ahLst/>
            <a:cxnLst/>
            <a:rect r="r" b="b" t="t" l="l"/>
            <a:pathLst>
              <a:path h="8227165" w="8227200">
                <a:moveTo>
                  <a:pt x="0" y="0"/>
                </a:moveTo>
                <a:lnTo>
                  <a:pt x="8227200" y="0"/>
                </a:lnTo>
                <a:lnTo>
                  <a:pt x="8227200" y="8227165"/>
                </a:lnTo>
                <a:lnTo>
                  <a:pt x="0" y="8227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184948" y="341022"/>
            <a:ext cx="9699700" cy="9699700"/>
          </a:xfrm>
          <a:custGeom>
            <a:avLst/>
            <a:gdLst/>
            <a:ahLst/>
            <a:cxnLst/>
            <a:rect r="r" b="b" t="t" l="l"/>
            <a:pathLst>
              <a:path h="9699700" w="9699700">
                <a:moveTo>
                  <a:pt x="0" y="0"/>
                </a:moveTo>
                <a:lnTo>
                  <a:pt x="9699700" y="0"/>
                </a:lnTo>
                <a:lnTo>
                  <a:pt x="9699700" y="9699700"/>
                </a:lnTo>
                <a:lnTo>
                  <a:pt x="0" y="969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13999" y="4276824"/>
            <a:ext cx="14288" cy="2824623"/>
            <a:chOff x="0" y="0"/>
            <a:chExt cx="19051" cy="3766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" cy="3766185"/>
            </a:xfrm>
            <a:custGeom>
              <a:avLst/>
              <a:gdLst/>
              <a:ahLst/>
              <a:cxnLst/>
              <a:rect r="r" b="b" t="t" l="l"/>
              <a:pathLst>
                <a:path h="3766185" w="19050">
                  <a:moveTo>
                    <a:pt x="19050" y="6350"/>
                  </a:moveTo>
                  <a:lnTo>
                    <a:pt x="12700" y="3759835"/>
                  </a:lnTo>
                  <a:cubicBezTo>
                    <a:pt x="12700" y="3763391"/>
                    <a:pt x="9906" y="3766185"/>
                    <a:pt x="6350" y="3766185"/>
                  </a:cubicBezTo>
                  <a:cubicBezTo>
                    <a:pt x="2794" y="3766185"/>
                    <a:pt x="0" y="3763391"/>
                    <a:pt x="0" y="3759835"/>
                  </a:cubicBezTo>
                  <a:lnTo>
                    <a:pt x="6350" y="6350"/>
                  </a:lnTo>
                  <a:cubicBezTo>
                    <a:pt x="6350" y="2794"/>
                    <a:pt x="9144" y="0"/>
                    <a:pt x="12700" y="0"/>
                  </a:cubicBezTo>
                  <a:cubicBezTo>
                    <a:pt x="16256" y="0"/>
                    <a:pt x="19050" y="2794"/>
                    <a:pt x="19050" y="635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49038" y="4276816"/>
            <a:ext cx="9525" cy="3068842"/>
            <a:chOff x="0" y="0"/>
            <a:chExt cx="12700" cy="40917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" cy="4091813"/>
            </a:xfrm>
            <a:custGeom>
              <a:avLst/>
              <a:gdLst/>
              <a:ahLst/>
              <a:cxnLst/>
              <a:rect r="r" b="b" t="t" l="l"/>
              <a:pathLst>
                <a:path h="4091813" w="12700">
                  <a:moveTo>
                    <a:pt x="12700" y="6350"/>
                  </a:moveTo>
                  <a:lnTo>
                    <a:pt x="12700" y="4085463"/>
                  </a:lnTo>
                  <a:cubicBezTo>
                    <a:pt x="12700" y="4089019"/>
                    <a:pt x="9906" y="4091813"/>
                    <a:pt x="6350" y="4091813"/>
                  </a:cubicBezTo>
                  <a:cubicBezTo>
                    <a:pt x="2794" y="4091813"/>
                    <a:pt x="0" y="4089019"/>
                    <a:pt x="0" y="408546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04440" y="3779512"/>
            <a:ext cx="833407" cy="833407"/>
            <a:chOff x="0" y="0"/>
            <a:chExt cx="1111209" cy="1111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32334" y="5143500"/>
            <a:ext cx="833407" cy="833407"/>
            <a:chOff x="0" y="0"/>
            <a:chExt cx="1111209" cy="1111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32334" y="3798554"/>
            <a:ext cx="833407" cy="833407"/>
            <a:chOff x="0" y="0"/>
            <a:chExt cx="1111209" cy="1111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04440" y="5143500"/>
            <a:ext cx="833407" cy="833407"/>
            <a:chOff x="0" y="0"/>
            <a:chExt cx="1111209" cy="11112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32334" y="6507488"/>
            <a:ext cx="833407" cy="833407"/>
            <a:chOff x="0" y="0"/>
            <a:chExt cx="1111209" cy="11112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04440" y="6507488"/>
            <a:ext cx="833407" cy="833407"/>
            <a:chOff x="0" y="0"/>
            <a:chExt cx="1111209" cy="1111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1250" cy="1111250"/>
            </a:xfrm>
            <a:custGeom>
              <a:avLst/>
              <a:gdLst/>
              <a:ahLst/>
              <a:cxnLst/>
              <a:rect r="r" b="b" t="t" l="l"/>
              <a:pathLst>
                <a:path h="1111250" w="1111250">
                  <a:moveTo>
                    <a:pt x="555625" y="0"/>
                  </a:moveTo>
                  <a:cubicBezTo>
                    <a:pt x="248793" y="0"/>
                    <a:pt x="0" y="248793"/>
                    <a:pt x="0" y="555625"/>
                  </a:cubicBezTo>
                  <a:cubicBezTo>
                    <a:pt x="0" y="862457"/>
                    <a:pt x="248793" y="1111250"/>
                    <a:pt x="555625" y="1111250"/>
                  </a:cubicBezTo>
                  <a:cubicBezTo>
                    <a:pt x="862457" y="1111250"/>
                    <a:pt x="1111250" y="862457"/>
                    <a:pt x="1111250" y="555625"/>
                  </a:cubicBezTo>
                  <a:cubicBezTo>
                    <a:pt x="1111250" y="248793"/>
                    <a:pt x="862457" y="0"/>
                    <a:pt x="555625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437577" y="3995156"/>
            <a:ext cx="567133" cy="35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65471" y="5359143"/>
            <a:ext cx="567133" cy="35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65471" y="4014197"/>
            <a:ext cx="567133" cy="35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37577" y="5359143"/>
            <a:ext cx="567133" cy="35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65471" y="6723131"/>
            <a:ext cx="567133" cy="36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28182" y="3921888"/>
            <a:ext cx="2872556" cy="48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56076" y="5285875"/>
            <a:ext cx="4403124" cy="47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56076" y="3921888"/>
            <a:ext cx="4784124" cy="47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14444" y="5267325"/>
            <a:ext cx="302495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56076" y="6649863"/>
            <a:ext cx="4326924" cy="48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37577" y="6723131"/>
            <a:ext cx="567133" cy="36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2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28182" y="6649863"/>
            <a:ext cx="3316018" cy="48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D0D50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90702" y="1549120"/>
            <a:ext cx="31452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200">
                <a:solidFill>
                  <a:srgbClr val="12127D"/>
                </a:solidFill>
                <a:latin typeface="Arimo"/>
                <a:ea typeface="Arimo"/>
                <a:cs typeface="Arimo"/>
                <a:sym typeface="Arimo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9043" y="2200016"/>
            <a:ext cx="3257588" cy="1047282"/>
          </a:xfrm>
          <a:custGeom>
            <a:avLst/>
            <a:gdLst/>
            <a:ahLst/>
            <a:cxnLst/>
            <a:rect r="r" b="b" t="t" l="l"/>
            <a:pathLst>
              <a:path h="1047282" w="3257588">
                <a:moveTo>
                  <a:pt x="0" y="0"/>
                </a:moveTo>
                <a:lnTo>
                  <a:pt x="3257588" y="0"/>
                </a:lnTo>
                <a:lnTo>
                  <a:pt x="3257588" y="1047282"/>
                </a:lnTo>
                <a:lnTo>
                  <a:pt x="0" y="1047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269834" y="2745255"/>
            <a:ext cx="173797" cy="173797"/>
            <a:chOff x="0" y="0"/>
            <a:chExt cx="231729" cy="231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6" id="16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5032636" y="3185663"/>
            <a:ext cx="1453833" cy="1375689"/>
          </a:xfrm>
          <a:custGeom>
            <a:avLst/>
            <a:gdLst/>
            <a:ahLst/>
            <a:cxnLst/>
            <a:rect r="r" b="b" t="t" l="l"/>
            <a:pathLst>
              <a:path h="1375689" w="1453833">
                <a:moveTo>
                  <a:pt x="0" y="0"/>
                </a:moveTo>
                <a:lnTo>
                  <a:pt x="1453833" y="0"/>
                </a:lnTo>
                <a:lnTo>
                  <a:pt x="1453833" y="1375689"/>
                </a:lnTo>
                <a:lnTo>
                  <a:pt x="0" y="1375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923304" y="6057625"/>
            <a:ext cx="1672496" cy="1164666"/>
          </a:xfrm>
          <a:custGeom>
            <a:avLst/>
            <a:gdLst/>
            <a:ahLst/>
            <a:cxnLst/>
            <a:rect r="r" b="b" t="t" l="l"/>
            <a:pathLst>
              <a:path h="1164666" w="1672496">
                <a:moveTo>
                  <a:pt x="0" y="0"/>
                </a:moveTo>
                <a:lnTo>
                  <a:pt x="1672496" y="0"/>
                </a:lnTo>
                <a:lnTo>
                  <a:pt x="1672496" y="1164666"/>
                </a:lnTo>
                <a:lnTo>
                  <a:pt x="0" y="11646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54669" y="3548862"/>
            <a:ext cx="6963614" cy="334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560" indent="-144780" lvl="1">
              <a:lnSpc>
                <a:spcPts val="3358"/>
              </a:lnSpc>
              <a:buFont typeface="Arial"/>
              <a:buChar char="•"/>
            </a:pPr>
            <a:r>
              <a:rPr lang="en-US" sz="2400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한국소비자원의 &lt;2024년 어린이 안전사고 동향 분석&gt; 보고서 → </a:t>
            </a:r>
            <a:r>
              <a:rPr lang="en-US" b="true" sz="2400" spc="-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영아기 (0세) 안전사고</a:t>
            </a:r>
            <a:r>
              <a:rPr lang="en-US" sz="2400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2400" spc="-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매년 1.3% 씩 증가</a:t>
            </a:r>
            <a:r>
              <a:rPr lang="en-US" sz="2400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하는 추세. </a:t>
            </a:r>
          </a:p>
          <a:p>
            <a:pPr algn="l" marL="289560" indent="-144780" lvl="1">
              <a:lnSpc>
                <a:spcPts val="3358"/>
              </a:lnSpc>
            </a:pPr>
          </a:p>
          <a:p>
            <a:pPr algn="l" marL="289560" indent="-144780" lvl="1">
              <a:lnSpc>
                <a:spcPts val="3357"/>
              </a:lnSpc>
              <a:buFont typeface="Arial"/>
              <a:buChar char="•"/>
            </a:pPr>
            <a:r>
              <a:rPr lang="en-US" sz="2400" spc="-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아기의 수면 환경에 예측 불가능한 위험 있음을 명확히 보여줌.</a:t>
            </a:r>
          </a:p>
          <a:p>
            <a:pPr algn="l">
              <a:lnSpc>
                <a:spcPts val="3357"/>
              </a:lnSpc>
            </a:pPr>
          </a:p>
          <a:p>
            <a:pPr algn="l" marL="289560" indent="-144780" lvl="1">
              <a:lnSpc>
                <a:spcPts val="3358"/>
              </a:lnSpc>
              <a:buFont typeface="Arial"/>
              <a:buChar char="•"/>
            </a:pPr>
            <a:r>
              <a:rPr lang="en-US" sz="2400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영아기 위해 다발 품목 1위 =</a:t>
            </a:r>
            <a:r>
              <a:rPr lang="en-US" b="true" sz="2400" spc="-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“침실 가구”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32636" y="1070265"/>
            <a:ext cx="8222728" cy="6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개발 배경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29399" y="3513602"/>
            <a:ext cx="3152702" cy="102982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079"/>
              </a:lnSpc>
              <a:defRPr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사고의 </a:t>
            </a:r>
            <a:r>
              <a:rPr lang="en-US" sz="3399" b="1" i="1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87.8%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</a:t>
            </a:r>
            <a:endParaRPr lang="en-US" sz="33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ctr">
              <a:lnSpc>
                <a:spcPts val="4079"/>
              </a:lnSpc>
              <a:spcBef>
                <a:spcPct val="0"/>
              </a:spcBef>
              <a:defRPr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주택에서 발생</a:t>
            </a:r>
            <a:endParaRPr lang="en-US" sz="33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06484" y="6174541"/>
            <a:ext cx="3680516" cy="1035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079"/>
              </a:lnSpc>
              <a:defRPr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그 중 </a:t>
            </a:r>
            <a:r>
              <a:rPr lang="en-US" sz="3399" b="1" i="1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41.6%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</a:t>
            </a:r>
            <a:endParaRPr lang="en-US" sz="33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ctr">
              <a:lnSpc>
                <a:spcPts val="4079"/>
              </a:lnSpc>
              <a:spcBef>
                <a:spcPct val="0"/>
              </a:spcBef>
              <a:defRPr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침실 가구에서 발생</a:t>
            </a:r>
            <a:endParaRPr lang="en-US" sz="33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21964" y="3483171"/>
            <a:ext cx="2732056" cy="3156787"/>
            <a:chOff x="0" y="0"/>
            <a:chExt cx="3642741" cy="42090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2741" cy="4209034"/>
            </a:xfrm>
            <a:custGeom>
              <a:avLst/>
              <a:gdLst/>
              <a:ahLst/>
              <a:cxnLst/>
              <a:rect r="r" b="b" t="t" l="l"/>
              <a:pathLst>
                <a:path h="4209034" w="3642741">
                  <a:moveTo>
                    <a:pt x="0" y="0"/>
                  </a:moveTo>
                  <a:lnTo>
                    <a:pt x="3642741" y="0"/>
                  </a:lnTo>
                  <a:lnTo>
                    <a:pt x="3642741" y="4209034"/>
                  </a:lnTo>
                  <a:lnTo>
                    <a:pt x="0" y="420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4" r="0" b="-8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501900" y="2961912"/>
            <a:ext cx="9290032" cy="508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-기</a:t>
            </a: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존 기술의 한계</a:t>
            </a:r>
          </a:p>
          <a:p>
            <a:pPr algn="l">
              <a:lnSpc>
                <a:spcPts val="3358"/>
              </a:lnSpc>
            </a:pPr>
            <a:r>
              <a:rPr lang="en-US" sz="2400" spc="-4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“ACK 2023 학술 발표회”에서 발표된  “</a:t>
            </a:r>
            <a:r>
              <a:rPr lang="en-US" sz="2400" spc="-45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유아 질식사 예방 AI 아기 모빌</a:t>
            </a:r>
            <a:r>
              <a:rPr lang="en-US" sz="2400" spc="-4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“ 아이의 앞과 뒤를 학습 시켜 질식사를 예방</a:t>
            </a:r>
          </a:p>
          <a:p>
            <a:pPr algn="l">
              <a:lnSpc>
                <a:spcPts val="3358"/>
              </a:lnSpc>
            </a:pPr>
          </a:p>
          <a:p>
            <a:pPr algn="l">
              <a:lnSpc>
                <a:spcPts val="3357"/>
              </a:lnSpc>
            </a:pP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</a:t>
            </a: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본 프로젝트의 차별성</a:t>
            </a:r>
          </a:p>
          <a:p>
            <a:pPr algn="l">
              <a:lnSpc>
                <a:spcPts val="3358"/>
              </a:lnSpc>
            </a:pPr>
            <a:r>
              <a:rPr lang="en-US" sz="2400" spc="-4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생명 유지의 핵심인 '</a:t>
            </a:r>
            <a:r>
              <a:rPr lang="en-US" sz="2400" spc="-45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호흡</a:t>
            </a:r>
            <a:r>
              <a:rPr lang="en-US" sz="2400" spc="-4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' 의 방해 여부를 직접 감지하여 영유아 질식 사고를 선제적으로 예방하는 솔루션 제시.</a:t>
            </a:r>
          </a:p>
          <a:p>
            <a:pPr algn="l">
              <a:lnSpc>
                <a:spcPts val="3358"/>
              </a:lnSpc>
            </a:pPr>
          </a:p>
          <a:p>
            <a:pPr algn="l">
              <a:lnSpc>
                <a:spcPts val="3357"/>
              </a:lnSpc>
            </a:pP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</a:t>
            </a:r>
            <a:r>
              <a:rPr lang="en-US" sz="2400" spc="-43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프로젝트의 필요성 및 기대 효과</a:t>
            </a:r>
          </a:p>
          <a:p>
            <a:pPr algn="l" marL="518160" indent="-259080" lvl="1">
              <a:lnSpc>
                <a:spcPts val="3357"/>
              </a:lnSpc>
              <a:buAutoNum type="arabicPeriod" startAt="1"/>
            </a:pPr>
            <a:r>
              <a:rPr lang="en-US" sz="2400" spc="-4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예측 불가능한 영유아 질식 사고 예방</a:t>
            </a:r>
          </a:p>
          <a:p>
            <a:pPr algn="l" marL="518160" indent="-259080" lvl="1">
              <a:lnSpc>
                <a:spcPts val="3357"/>
              </a:lnSpc>
              <a:buAutoNum type="arabicPeriod" startAt="1"/>
            </a:pPr>
            <a:r>
              <a:rPr lang="en-US" sz="2400" spc="-4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보호자에게 진정한 심리적 안정 제공</a:t>
            </a:r>
          </a:p>
          <a:p>
            <a:pPr algn="l">
              <a:lnSpc>
                <a:spcPts val="335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필요성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9043" y="2200016"/>
            <a:ext cx="3257588" cy="1047282"/>
          </a:xfrm>
          <a:custGeom>
            <a:avLst/>
            <a:gdLst/>
            <a:ahLst/>
            <a:cxnLst/>
            <a:rect r="r" b="b" t="t" l="l"/>
            <a:pathLst>
              <a:path h="1047282" w="3257588">
                <a:moveTo>
                  <a:pt x="0" y="0"/>
                </a:moveTo>
                <a:lnTo>
                  <a:pt x="3257588" y="0"/>
                </a:lnTo>
                <a:lnTo>
                  <a:pt x="3257588" y="1047282"/>
                </a:lnTo>
                <a:lnTo>
                  <a:pt x="0" y="1047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269834" y="2745255"/>
            <a:ext cx="173797" cy="173797"/>
            <a:chOff x="0" y="0"/>
            <a:chExt cx="231729" cy="231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26" id="26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817" b="-3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" b="1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2"/>
          </a:xfrm>
          <a:custGeom>
            <a:avLst/>
            <a:gdLst/>
            <a:ahLst/>
            <a:cxnLst/>
            <a:rect r="r" b="b" t="t" l="l"/>
            <a:pathLst>
              <a:path h="1047282" w="3257588">
                <a:moveTo>
                  <a:pt x="0" y="0"/>
                </a:moveTo>
                <a:lnTo>
                  <a:pt x="3257588" y="0"/>
                </a:lnTo>
                <a:lnTo>
                  <a:pt x="3257588" y="1047282"/>
                </a:lnTo>
                <a:lnTo>
                  <a:pt x="0" y="1047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269834" y="2745255"/>
            <a:ext cx="173797" cy="173797"/>
            <a:chOff x="0" y="0"/>
            <a:chExt cx="231729" cy="231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6" id="16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5525532" y="4119602"/>
            <a:ext cx="1647119" cy="2264788"/>
          </a:xfrm>
          <a:custGeom>
            <a:avLst/>
            <a:gdLst/>
            <a:rect l="l" t="t" r="r" b="b"/>
            <a:pathLst>
              <a:path w="1647119" h="2264788">
                <a:moveTo>
                  <a:pt x="0" y="0"/>
                </a:moveTo>
                <a:lnTo>
                  <a:pt x="1647119" y="0"/>
                </a:lnTo>
                <a:lnTo>
                  <a:pt x="1647119" y="2264788"/>
                </a:lnTo>
                <a:lnTo>
                  <a:pt x="0" y="2264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/>
            <a:stretch>
              <a:fillRect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57148" y="3603951"/>
            <a:ext cx="8996432" cy="379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spc="-4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안전사고를 선제적으로 예방하는 스마트 베이비캠 시스템 개발</a:t>
            </a:r>
          </a:p>
          <a:p>
            <a:pPr algn="l">
              <a:lnSpc>
                <a:spcPts val="3357"/>
              </a:lnSpc>
            </a:pPr>
          </a:p>
          <a:p>
            <a:pPr algn="l">
              <a:lnSpc>
                <a:spcPts val="3357"/>
              </a:lnSpc>
            </a:pPr>
            <a:r>
              <a:rPr lang="en-US" sz="2799" spc="-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1.주-야간으로</a:t>
            </a:r>
            <a:r>
              <a:rPr lang="en-US" sz="2799" spc="-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spc="-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카메라 </a:t>
            </a:r>
            <a:r>
              <a:rPr lang="en-US" sz="2799" spc="-4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실시간</a:t>
            </a:r>
            <a:r>
              <a:rPr lang="en-US" sz="2799" spc="-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스트리밍을 이용</a:t>
            </a:r>
          </a:p>
          <a:p>
            <a:pPr algn="l">
              <a:lnSpc>
                <a:spcPts val="3358"/>
              </a:lnSpc>
            </a:pPr>
            <a:r>
              <a:rPr lang="en-US" sz="2799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</a:t>
            </a:r>
            <a:r>
              <a:rPr lang="en-US" sz="2799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AI가 신생아 및 영유아의 안전을 위협하는</a:t>
            </a:r>
          </a:p>
          <a:p>
            <a:pPr algn="l">
              <a:lnSpc>
                <a:spcPts val="3358"/>
              </a:lnSpc>
            </a:pPr>
            <a:r>
              <a:rPr lang="en-US" sz="2799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3357"/>
              </a:lnSpc>
            </a:pPr>
            <a:r>
              <a:rPr lang="en-US" sz="2799" spc="-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AI가 수면 중 질식 실시간 감지 및 즉각적 알림</a:t>
            </a:r>
          </a:p>
          <a:p>
            <a:pPr algn="l">
              <a:lnSpc>
                <a:spcPts val="3357"/>
              </a:lnSpc>
            </a:pPr>
          </a:p>
          <a:p>
            <a:pPr algn="l">
              <a:lnSpc>
                <a:spcPts val="3358"/>
              </a:lnSpc>
            </a:pPr>
            <a:r>
              <a:rPr lang="en-US" sz="2799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활동 중 위험 물건 실시간 감지 및 즉각적 알림</a:t>
            </a:r>
            <a:r>
              <a:rPr lang="en-US" sz="2799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335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목표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69834" y="3876141"/>
            <a:ext cx="173797" cy="173797"/>
            <a:chOff x="0" y="0"/>
            <a:chExt cx="231729" cy="231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팀 구성 / 역할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4951095" y="3162299"/>
          <a:ext cx="12192000" cy="4927601"/>
        </p:xfrm>
        <a:graphic>
          <a:graphicData uri="http://schemas.openxmlformats.org/drawingml/2006/table">
            <a:tbl>
              <a:tblGrid>
                <a:gridCol w="6095048"/>
                <a:gridCol w="6096952"/>
              </a:tblGrid>
              <a:tr h="978386"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이름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역할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0cdef"/>
                    </a:solidFill>
                  </a:tcPr>
                </a:tc>
              </a:tr>
              <a:tr h="1014057"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김현겸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팀장 (아이디어 제시, AI 서비스 구축, 데이터 라벨링, 감시 로직, 엔진 구축, 발표 ppt 작성)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978386"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김현중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팀원 (AI 서비스 구축, 데이터 라벨링, 텔레그램 봇 구축)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978386"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김상원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팀원 (AI 서비스 구축, 데이터</a:t>
                      </a:r>
                      <a:r>
                        <a:rPr lang="ko-KR" alt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총괄 관리</a:t>
                      </a: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발표 ppt 작성)</a:t>
                      </a:r>
                      <a:endParaRPr lang="en-US" sz="2200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978386"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박철범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91440" rIns="91440" bIns="91440" anchor="ctr" anchorCtr="0"/>
                    <a:lstStyle/>
                    <a:p>
                      <a:pPr lvl="0"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팀원 (테스터)</a:t>
                      </a:r>
                      <a:endParaRPr lang="en-US" sz="1100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24" id="24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261216" y="4529137"/>
            <a:ext cx="9221546" cy="37971"/>
            <a:chOff x="0" y="0"/>
            <a:chExt cx="12295395" cy="506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95378" cy="50673"/>
            </a:xfrm>
            <a:custGeom>
              <a:avLst/>
              <a:gdLst/>
              <a:ahLst/>
              <a:cxnLst/>
              <a:rect r="r" b="b" t="t" l="l"/>
              <a:pathLst>
                <a:path h="50673" w="12295378">
                  <a:moveTo>
                    <a:pt x="6350" y="37973"/>
                  </a:moveTo>
                  <a:lnTo>
                    <a:pt x="12289028" y="0"/>
                  </a:lnTo>
                  <a:cubicBezTo>
                    <a:pt x="12292585" y="0"/>
                    <a:pt x="12295378" y="2794"/>
                    <a:pt x="12295378" y="6350"/>
                  </a:cubicBezTo>
                  <a:cubicBezTo>
                    <a:pt x="12295378" y="9906"/>
                    <a:pt x="12292585" y="12700"/>
                    <a:pt x="12289028" y="12700"/>
                  </a:cubicBezTo>
                  <a:lnTo>
                    <a:pt x="6350" y="50673"/>
                  </a:lnTo>
                  <a:cubicBezTo>
                    <a:pt x="2794" y="50673"/>
                    <a:pt x="0" y="47879"/>
                    <a:pt x="0" y="44323"/>
                  </a:cubicBezTo>
                  <a:cubicBezTo>
                    <a:pt x="0" y="40767"/>
                    <a:pt x="2794" y="37973"/>
                    <a:pt x="6350" y="37973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13579" y="3495546"/>
            <a:ext cx="2057400" cy="2057400"/>
            <a:chOff x="0" y="0"/>
            <a:chExt cx="274320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1371600" y="0"/>
                  </a:moveTo>
                  <a:cubicBezTo>
                    <a:pt x="614045" y="0"/>
                    <a:pt x="0" y="614045"/>
                    <a:pt x="0" y="1371600"/>
                  </a:cubicBezTo>
                  <a:cubicBezTo>
                    <a:pt x="0" y="2129155"/>
                    <a:pt x="614045" y="2743200"/>
                    <a:pt x="1371600" y="2743200"/>
                  </a:cubicBezTo>
                  <a:cubicBezTo>
                    <a:pt x="2129155" y="2743200"/>
                    <a:pt x="2743200" y="2129155"/>
                    <a:pt x="2743200" y="1371600"/>
                  </a:cubicBezTo>
                  <a:cubicBezTo>
                    <a:pt x="2743200" y="614045"/>
                    <a:pt x="2129155" y="0"/>
                    <a:pt x="1371600" y="0"/>
                  </a:cubicBezTo>
                  <a:close/>
                </a:path>
              </a:pathLst>
            </a:custGeom>
            <a:solidFill>
              <a:srgbClr val="5285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06460" y="3800344"/>
            <a:ext cx="1671638" cy="1559718"/>
            <a:chOff x="0" y="0"/>
            <a:chExt cx="2228850" cy="20796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850" cy="2079624"/>
            </a:xfrm>
            <a:custGeom>
              <a:avLst/>
              <a:gdLst/>
              <a:ahLst/>
              <a:cxnLst/>
              <a:rect r="r" b="b" t="t" l="l"/>
              <a:pathLst>
                <a:path h="2079624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2079624"/>
                  </a:lnTo>
                  <a:lnTo>
                    <a:pt x="0" y="20796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2228850" cy="2041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사전 기획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70672" y="3495546"/>
            <a:ext cx="2057400" cy="2057400"/>
            <a:chOff x="0" y="0"/>
            <a:chExt cx="27432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1371600" y="0"/>
                  </a:moveTo>
                  <a:cubicBezTo>
                    <a:pt x="614045" y="0"/>
                    <a:pt x="0" y="614045"/>
                    <a:pt x="0" y="1371600"/>
                  </a:cubicBezTo>
                  <a:cubicBezTo>
                    <a:pt x="0" y="2129155"/>
                    <a:pt x="614045" y="2743200"/>
                    <a:pt x="1371600" y="2743200"/>
                  </a:cubicBezTo>
                  <a:cubicBezTo>
                    <a:pt x="2129155" y="2743200"/>
                    <a:pt x="2743200" y="2129155"/>
                    <a:pt x="2743200" y="1371600"/>
                  </a:cubicBezTo>
                  <a:cubicBezTo>
                    <a:pt x="2743200" y="614045"/>
                    <a:pt x="2129155" y="0"/>
                    <a:pt x="13716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63553" y="3800344"/>
            <a:ext cx="1671638" cy="1483518"/>
            <a:chOff x="0" y="0"/>
            <a:chExt cx="2228850" cy="1978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8850" cy="1978023"/>
            </a:xfrm>
            <a:custGeom>
              <a:avLst/>
              <a:gdLst/>
              <a:ahLst/>
              <a:cxnLst/>
              <a:rect r="r" b="b" t="t" l="l"/>
              <a:pathLst>
                <a:path h="1978023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1978023"/>
                  </a:lnTo>
                  <a:lnTo>
                    <a:pt x="0" y="19780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2228850" cy="1939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데이터 수집 및 라벨링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27765" y="3495546"/>
            <a:ext cx="2057400" cy="2057400"/>
            <a:chOff x="0" y="0"/>
            <a:chExt cx="274320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1371600" y="0"/>
                  </a:moveTo>
                  <a:cubicBezTo>
                    <a:pt x="614045" y="0"/>
                    <a:pt x="0" y="614045"/>
                    <a:pt x="0" y="1371600"/>
                  </a:cubicBezTo>
                  <a:cubicBezTo>
                    <a:pt x="0" y="2129155"/>
                    <a:pt x="614045" y="2743200"/>
                    <a:pt x="1371600" y="2743200"/>
                  </a:cubicBezTo>
                  <a:cubicBezTo>
                    <a:pt x="2129155" y="2743200"/>
                    <a:pt x="2743200" y="2129155"/>
                    <a:pt x="2743200" y="1371600"/>
                  </a:cubicBezTo>
                  <a:cubicBezTo>
                    <a:pt x="2743200" y="614045"/>
                    <a:pt x="2129155" y="0"/>
                    <a:pt x="13716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20644" y="3800344"/>
            <a:ext cx="1671638" cy="1559718"/>
            <a:chOff x="0" y="0"/>
            <a:chExt cx="2228850" cy="20796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28850" cy="2079624"/>
            </a:xfrm>
            <a:custGeom>
              <a:avLst/>
              <a:gdLst/>
              <a:ahLst/>
              <a:cxnLst/>
              <a:rect r="r" b="b" t="t" l="l"/>
              <a:pathLst>
                <a:path h="2079624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2079624"/>
                  </a:lnTo>
                  <a:lnTo>
                    <a:pt x="0" y="20796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2228850" cy="2041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학습 및 데이터 보강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032635" y="109537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일정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03979" y="6143625"/>
            <a:ext cx="3231189" cy="26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9.19 ~ 9.23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58251" y="6143625"/>
            <a:ext cx="3398928" cy="26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9.24 ~ 10.2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04559" y="6143625"/>
            <a:ext cx="38816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10.13 ~ 10.9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43" id="43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17" b="-3"/>
              </a:stretch>
            </a:blip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" b="1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478000" y="3467100"/>
            <a:ext cx="2057400" cy="2057400"/>
            <a:chOff x="0" y="0"/>
            <a:chExt cx="2743200" cy="274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1371600" y="0"/>
                  </a:moveTo>
                  <a:cubicBezTo>
                    <a:pt x="614045" y="0"/>
                    <a:pt x="0" y="614045"/>
                    <a:pt x="0" y="1371600"/>
                  </a:cubicBezTo>
                  <a:cubicBezTo>
                    <a:pt x="0" y="2129155"/>
                    <a:pt x="614045" y="2743200"/>
                    <a:pt x="1371600" y="2743200"/>
                  </a:cubicBezTo>
                  <a:cubicBezTo>
                    <a:pt x="2129155" y="2743200"/>
                    <a:pt x="2743200" y="2129155"/>
                    <a:pt x="2743200" y="1371600"/>
                  </a:cubicBezTo>
                  <a:cubicBezTo>
                    <a:pt x="2743200" y="614045"/>
                    <a:pt x="2129155" y="0"/>
                    <a:pt x="13716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70879" y="3771898"/>
            <a:ext cx="1671638" cy="1559718"/>
            <a:chOff x="0" y="0"/>
            <a:chExt cx="2228850" cy="2079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8850" cy="2079624"/>
            </a:xfrm>
            <a:custGeom>
              <a:avLst/>
              <a:gdLst/>
              <a:ahLst/>
              <a:cxnLst/>
              <a:rect r="r" b="b" t="t" l="l"/>
              <a:pathLst>
                <a:path h="2079624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2079624"/>
                  </a:lnTo>
                  <a:lnTo>
                    <a:pt x="0" y="20796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38100"/>
              <a:ext cx="2228850" cy="2041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모델링 &amp;</a:t>
              </a:r>
            </a:p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  <a:p>
              <a:pPr algn="ctr">
                <a:lnSpc>
                  <a:spcPts val="1960"/>
                </a:lnSpc>
              </a:pPr>
              <a:r>
                <a:rPr lang="en-US" sz="2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서비스 구축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644379" y="6096000"/>
            <a:ext cx="38816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10.9 ~ 10.22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690931"/>
            <a:ext cx="1569333" cy="1641133"/>
          </a:xfrm>
          <a:custGeom>
            <a:avLst/>
            <a:gdLst/>
            <a:ahLst/>
            <a:cxnLst/>
            <a:rect r="r" b="b" t="t" l="l"/>
            <a:pathLst>
              <a:path h="1641133" w="1569333">
                <a:moveTo>
                  <a:pt x="0" y="0"/>
                </a:moveTo>
                <a:lnTo>
                  <a:pt x="1569333" y="0"/>
                </a:lnTo>
                <a:lnTo>
                  <a:pt x="1569333" y="1641133"/>
                </a:lnTo>
                <a:lnTo>
                  <a:pt x="0" y="16411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2631758"/>
            <a:ext cx="1719282" cy="1641133"/>
          </a:xfrm>
          <a:custGeom>
            <a:avLst/>
            <a:gdLst/>
            <a:ahLst/>
            <a:cxnLst/>
            <a:rect r="r" b="b" t="t" l="l"/>
            <a:pathLst>
              <a:path h="1641133" w="1719282">
                <a:moveTo>
                  <a:pt x="0" y="0"/>
                </a:moveTo>
                <a:lnTo>
                  <a:pt x="1719282" y="0"/>
                </a:lnTo>
                <a:lnTo>
                  <a:pt x="1719282" y="1641133"/>
                </a:lnTo>
                <a:lnTo>
                  <a:pt x="0" y="164113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89560" y="2631758"/>
            <a:ext cx="2006799" cy="1700306"/>
          </a:xfrm>
          <a:custGeom>
            <a:avLst/>
            <a:gdLst/>
            <a:ahLst/>
            <a:cxnLst/>
            <a:rect r="r" b="b" t="t" l="l"/>
            <a:pathLst>
              <a:path h="1700306" w="2006799">
                <a:moveTo>
                  <a:pt x="0" y="0"/>
                </a:moveTo>
                <a:lnTo>
                  <a:pt x="2006799" y="0"/>
                </a:lnTo>
                <a:lnTo>
                  <a:pt x="2006799" y="1700306"/>
                </a:lnTo>
                <a:lnTo>
                  <a:pt x="0" y="170030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시나리오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45240" y="2612708"/>
            <a:ext cx="5151119" cy="4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야간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1) 수면 중 질식 사고 방지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2) 수면 안전 모니터링</a:t>
            </a:r>
          </a:p>
          <a:p>
            <a:pPr algn="l">
              <a:lnSpc>
                <a:spcPts val="2640"/>
              </a:lnSpc>
            </a:pPr>
          </a:p>
          <a:p>
            <a:pPr algn="l" marL="722630" indent="-240877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호흡 추적 및 위험 자세 감지</a:t>
            </a:r>
          </a:p>
          <a:p>
            <a:pPr algn="l" marL="722630" indent="-240877" lvl="2">
              <a:lnSpc>
                <a:spcPts val="2640"/>
              </a:lnSpc>
            </a:pPr>
          </a:p>
          <a:p>
            <a:pPr algn="l" marL="722630" indent="-240877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야간 모드에서 아이의 코와 입을 정밀하게 학습 및 추적</a:t>
            </a:r>
          </a:p>
          <a:p>
            <a:pPr algn="l" marL="722630" indent="-240877" lvl="2">
              <a:lnSpc>
                <a:spcPts val="2640"/>
              </a:lnSpc>
            </a:pPr>
          </a:p>
          <a:p>
            <a:pPr algn="l" marL="722630" indent="-240877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이불/베개 등에 의해 일정 시간 이상  호흡 경로 가려질 경우 즉시 경고 알림 전송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73040" y="2659380"/>
            <a:ext cx="5074920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주간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1) 이물질 삼킴 및 찔림 사고 예방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2) 활동 안전 모니터링</a:t>
            </a:r>
          </a:p>
          <a:p>
            <a:pPr algn="l">
              <a:lnSpc>
                <a:spcPts val="2640"/>
              </a:lnSpc>
            </a:pPr>
          </a:p>
          <a:p>
            <a:pPr algn="l" marL="722630" indent="-240877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아이의 손,그리고 주변의 위협적인   오브젝트(병뚜껑, 포크 등) AI가 인식</a:t>
            </a:r>
          </a:p>
          <a:p>
            <a:pPr algn="l" marL="722630" indent="-240877" lvl="2">
              <a:lnSpc>
                <a:spcPts val="2640"/>
              </a:lnSpc>
            </a:pPr>
          </a:p>
          <a:p>
            <a:pPr algn="l" marL="722630" indent="-240877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아이가 위험 물체에 손이 가까워지는 상황을 감지하여 사전에 경고 알림   전송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11040" y="1240256"/>
            <a:ext cx="8222728" cy="6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개발에 사용한 모델 및 데이터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11040" y="3602456"/>
            <a:ext cx="49400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객체 탐지 학습 모델: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YOLOv11s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11040" y="4705350"/>
            <a:ext cx="840795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사진 데이터 수집: 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OpenImage V7, Roboflow, 자체 수집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19982" y="5782708"/>
            <a:ext cx="9662292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주요 라벨링: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야간</a:t>
            </a:r>
            <a:r>
              <a:rPr lang="en-US" b="true" sz="2799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27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nose, mouth, pacifier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주간</a:t>
            </a:r>
            <a:r>
              <a:rPr lang="en-US" b="true" sz="2799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27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hand, chopsticks, fork, </a:t>
            </a:r>
            <a:r>
              <a:rPr lang="en-US" sz="27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bottle_cap, ring, coin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43400" y="257175"/>
            <a:ext cx="3935325" cy="6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소프트웨어 구성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267200" y="1485900"/>
            <a:ext cx="13677824" cy="7086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하드웨어 구성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038599" y="2095500"/>
            <a:ext cx="4114800" cy="4114800"/>
            <a:chOff x="0" y="0"/>
            <a:chExt cx="5486400" cy="548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915399" y="2095500"/>
            <a:ext cx="4114800" cy="4114800"/>
            <a:chOff x="0" y="0"/>
            <a:chExt cx="5486400" cy="548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4754" t="-21311" r="-16393" b="-983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013959" y="6770370"/>
            <a:ext cx="2209801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Jeston Xavier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35440" y="6770370"/>
            <a:ext cx="337566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R-C-TPN-TapoC210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07440" y="2284095"/>
            <a:ext cx="4023360" cy="3307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79"/>
              </a:lnSpc>
              <a:defRPr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Xavier를 이용해서 추론 및 알림 전송</a:t>
            </a: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안전이 보장된 베이비캠 사용</a:t>
            </a: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IR 카메라를 써서 야간에도 선명한 화질</a:t>
            </a: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2879"/>
              </a:lnSpc>
              <a:defRPr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RTSP 방식 지원</a:t>
            </a: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데이터 수집 및 라벨링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755696" y="5372452"/>
            <a:ext cx="3005948" cy="2981207"/>
            <a:chOff x="0" y="0"/>
            <a:chExt cx="4007931" cy="39749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07993" cy="3974973"/>
            </a:xfrm>
            <a:custGeom>
              <a:avLst/>
              <a:gdLst/>
              <a:ahLst/>
              <a:cxnLst/>
              <a:rect r="r" b="b" t="t" l="l"/>
              <a:pathLst>
                <a:path h="3974973" w="4007993">
                  <a:moveTo>
                    <a:pt x="0" y="0"/>
                  </a:moveTo>
                  <a:lnTo>
                    <a:pt x="4007993" y="0"/>
                  </a:lnTo>
                  <a:lnTo>
                    <a:pt x="4007993" y="3974973"/>
                  </a:lnTo>
                  <a:lnTo>
                    <a:pt x="0" y="3974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7866387" y="6405855"/>
            <a:ext cx="3410464" cy="914400"/>
            <a:chOff x="0" y="0"/>
            <a:chExt cx="4547285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47235" cy="1219200"/>
            </a:xfrm>
            <a:custGeom>
              <a:avLst/>
              <a:gdLst/>
              <a:ahLst/>
              <a:cxnLst/>
              <a:rect r="r" b="b" t="t" l="l"/>
              <a:pathLst>
                <a:path h="1219200" w="4547235">
                  <a:moveTo>
                    <a:pt x="0" y="0"/>
                  </a:moveTo>
                  <a:lnTo>
                    <a:pt x="4547235" y="0"/>
                  </a:lnTo>
                  <a:lnTo>
                    <a:pt x="4547235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1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4755696" y="2266394"/>
            <a:ext cx="7010400" cy="914527"/>
            <a:chOff x="0" y="0"/>
            <a:chExt cx="9347200" cy="12193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47200" cy="1219327"/>
            </a:xfrm>
            <a:custGeom>
              <a:avLst/>
              <a:gdLst/>
              <a:ahLst/>
              <a:cxnLst/>
              <a:rect r="r" b="b" t="t" l="l"/>
              <a:pathLst>
                <a:path h="1219327" w="9347200">
                  <a:moveTo>
                    <a:pt x="0" y="0"/>
                  </a:moveTo>
                  <a:lnTo>
                    <a:pt x="9347200" y="0"/>
                  </a:lnTo>
                  <a:lnTo>
                    <a:pt x="9347200" y="1219327"/>
                  </a:lnTo>
                  <a:lnTo>
                    <a:pt x="0" y="1219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3540" t="0" r="-3540" b="-3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766096" y="4044925"/>
            <a:ext cx="6032514" cy="463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데이터 수집 단계에서 아기 얼굴 데이터셋을 찾던 도중 발견</a:t>
            </a:r>
          </a:p>
          <a:p>
            <a:pPr algn="just">
              <a:lnSpc>
                <a:spcPts val="3680"/>
              </a:lnSpc>
            </a:pP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팀원들간 데이터 공유 및 라벨링 용이</a:t>
            </a: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AI가 라벨링을 어시스트 해줘서 빠르게 해결</a:t>
            </a:r>
          </a:p>
          <a:p>
            <a:pPr algn="just">
              <a:lnSpc>
                <a:spcPts val="3680"/>
              </a:lnSpc>
            </a:pP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데이터셋 증강과 분리를 지원</a:t>
            </a:r>
          </a:p>
          <a:p>
            <a:pPr algn="just">
              <a:lnSpc>
                <a:spcPts val="3680"/>
              </a:lnSpc>
            </a:pPr>
          </a:p>
          <a:p>
            <a:pPr algn="just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사이트에서 지원하는 학습으로 결과 미리 확인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94602" y="3311852"/>
            <a:ext cx="647792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OpenImages V7에서 키워드를 이용해서 데이터 수집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114800" y="190500"/>
            <a:ext cx="10363200" cy="1143000"/>
            <a:chOff x="0" y="0"/>
            <a:chExt cx="138176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17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3817600">
                  <a:moveTo>
                    <a:pt x="0" y="0"/>
                  </a:moveTo>
                  <a:lnTo>
                    <a:pt x="13817600" y="0"/>
                  </a:lnTo>
                  <a:lnTo>
                    <a:pt x="13817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3817600" cy="167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272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데이터 수집 후 Roboflow 를 이용해 라벨링 하는 과정, CLASS 분류</a:t>
              </a: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 rot="0">
            <a:off x="5257800" y="1261969"/>
            <a:ext cx="12242011" cy="7234330"/>
            <a:chOff x="0" y="0"/>
            <a:chExt cx="9071781" cy="53609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1737" cy="5360924"/>
            </a:xfrm>
            <a:custGeom>
              <a:avLst/>
              <a:gdLst/>
              <a:rect l="l" t="t" r="r" b="b"/>
              <a:pathLst>
                <a:path w="9071737" h="5360924">
                  <a:moveTo>
                    <a:pt x="0" y="0"/>
                  </a:moveTo>
                  <a:lnTo>
                    <a:pt x="9071737" y="0"/>
                  </a:lnTo>
                  <a:lnTo>
                    <a:pt x="9071737" y="5360924"/>
                  </a:lnTo>
                  <a:lnTo>
                    <a:pt x="0" y="53609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/>
              <a:stretch>
                <a:fillRect l="-9990" r="-999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69834" y="5007027"/>
            <a:ext cx="173797" cy="173797"/>
            <a:chOff x="0" y="0"/>
            <a:chExt cx="231729" cy="231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114800" y="190500"/>
            <a:ext cx="10363200" cy="1143000"/>
            <a:chOff x="0" y="0"/>
            <a:chExt cx="138176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17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3817600">
                  <a:moveTo>
                    <a:pt x="0" y="0"/>
                  </a:moveTo>
                  <a:lnTo>
                    <a:pt x="13817600" y="0"/>
                  </a:lnTo>
                  <a:lnTo>
                    <a:pt x="13817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3817600" cy="167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272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데이터 수집 후 Roboflow 를 이용해 라벨링 하는 과정, CLASS 분류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664006" y="1333500"/>
            <a:ext cx="11789668" cy="3128289"/>
          </a:xfrm>
          <a:custGeom>
            <a:avLst/>
            <a:gdLst/>
            <a:ahLst/>
            <a:cxnLst/>
            <a:rect r="r" b="b" t="t" l="l"/>
            <a:pathLst>
              <a:path h="3128289" w="11789668">
                <a:moveTo>
                  <a:pt x="0" y="0"/>
                </a:moveTo>
                <a:lnTo>
                  <a:pt x="11789669" y="0"/>
                </a:lnTo>
                <a:lnTo>
                  <a:pt x="11789669" y="3128289"/>
                </a:lnTo>
                <a:lnTo>
                  <a:pt x="0" y="312828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3183" t="0" r="-2371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64006" y="4461789"/>
            <a:ext cx="11789668" cy="4495926"/>
          </a:xfrm>
          <a:custGeom>
            <a:avLst/>
            <a:gdLst/>
            <a:ahLst/>
            <a:cxnLst/>
            <a:rect r="r" b="b" t="t" l="l"/>
            <a:pathLst>
              <a:path h="4495926" w="11789668">
                <a:moveTo>
                  <a:pt x="0" y="0"/>
                </a:moveTo>
                <a:lnTo>
                  <a:pt x="11789669" y="0"/>
                </a:lnTo>
                <a:lnTo>
                  <a:pt x="11789669" y="4495926"/>
                </a:lnTo>
                <a:lnTo>
                  <a:pt x="0" y="44959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50620" t="0" r="-1700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5" id="15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14800" y="190500"/>
            <a:ext cx="8610600" cy="1143000"/>
            <a:chOff x="0" y="0"/>
            <a:chExt cx="114808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8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480800" cy="1571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야간 </a:t>
              </a: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모델 성능 지표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755696" y="2481040"/>
            <a:ext cx="12503604" cy="2828940"/>
          </a:xfrm>
          <a:custGeom>
            <a:avLst/>
            <a:gdLst/>
            <a:ahLst/>
            <a:cxnLst/>
            <a:rect r="r" b="b" t="t" l="l"/>
            <a:pathLst>
              <a:path h="2828940" w="12503604">
                <a:moveTo>
                  <a:pt x="0" y="0"/>
                </a:moveTo>
                <a:lnTo>
                  <a:pt x="12503604" y="0"/>
                </a:lnTo>
                <a:lnTo>
                  <a:pt x="12503604" y="2828940"/>
                </a:lnTo>
                <a:lnTo>
                  <a:pt x="0" y="28289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55696" y="1830446"/>
            <a:ext cx="2712720" cy="3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YOLOv11s 모델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55696" y="6032946"/>
            <a:ext cx="6527064" cy="203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b="true" sz="1737">
                <a:solidFill>
                  <a:srgbClr val="1010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전체 성능 (mAP50): 0.907</a:t>
            </a:r>
          </a:p>
          <a:p>
            <a:pPr algn="l">
              <a:lnSpc>
                <a:spcPts val="2315"/>
              </a:lnSpc>
            </a:pPr>
            <a:r>
              <a:rPr lang="en-US" b="true" sz="1737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→ 모델이 전체적으로 높은 정확도와 재현율을 달성함.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1737">
                <a:solidFill>
                  <a:srgbClr val="10101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b="true" sz="17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클래스별 성능 비교</a:t>
            </a:r>
          </a:p>
          <a:p>
            <a:pPr algn="l">
              <a:lnSpc>
                <a:spcPts val="2315"/>
              </a:lnSpc>
            </a:pPr>
            <a:r>
              <a:rPr lang="en-US" b="true" sz="17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- Nose: mAP50 = 0.973     (가장 높은 인식률)</a:t>
            </a:r>
          </a:p>
          <a:p>
            <a:pPr algn="l">
              <a:lnSpc>
                <a:spcPts val="2315"/>
              </a:lnSpc>
            </a:pPr>
            <a:r>
              <a:rPr lang="en-US" b="true" sz="17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- Mouth: mAP50 = 0.948   (우수한 인식 정확도)</a:t>
            </a:r>
          </a:p>
          <a:p>
            <a:pPr algn="l">
              <a:lnSpc>
                <a:spcPts val="2314"/>
              </a:lnSpc>
            </a:pPr>
            <a:r>
              <a:rPr lang="en-US" b="true" sz="17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- Pacifier: mAP50 = 0.799 (상대적으로 낮음, 데이터 부족 영향 가능)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82761" y="6054662"/>
            <a:ext cx="6356391" cy="10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3"/>
              </a:lnSpc>
              <a:spcBef>
                <a:spcPct val="0"/>
              </a:spcBef>
            </a:pPr>
            <a:r>
              <a:rPr lang="en-US" b="true" sz="2081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• Precision (정확도): 평균 0.939</a:t>
            </a:r>
          </a:p>
          <a:p>
            <a:pPr algn="l" marL="0" indent="0" lvl="0">
              <a:lnSpc>
                <a:spcPts val="2773"/>
              </a:lnSpc>
              <a:spcBef>
                <a:spcPct val="0"/>
              </a:spcBef>
            </a:pPr>
            <a:r>
              <a:rPr lang="en-US" b="true" sz="2081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Recall (재현율): 평균 0.846</a:t>
            </a:r>
          </a:p>
          <a:p>
            <a:pPr algn="l" marL="0" indent="0" lvl="0">
              <a:lnSpc>
                <a:spcPts val="2773"/>
              </a:lnSpc>
              <a:spcBef>
                <a:spcPct val="0"/>
              </a:spcBef>
            </a:pPr>
            <a:r>
              <a:rPr lang="en-US" b="true" sz="2081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→ 검출률과 오탐률 모두 균형 잡힌 결과.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5" id="15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91000" y="266700"/>
            <a:ext cx="6172200" cy="1143000"/>
            <a:chOff x="0" y="0"/>
            <a:chExt cx="82296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8229600" cy="1485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44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주간 </a:t>
              </a:r>
              <a:r>
                <a:rPr lang="en-US" sz="44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모델 성능 테스트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592353" y="1649002"/>
            <a:ext cx="9985144" cy="2633003"/>
          </a:xfrm>
          <a:custGeom>
            <a:avLst/>
            <a:gdLst/>
            <a:ahLst/>
            <a:cxnLst/>
            <a:rect r="r" b="b" t="t" l="l"/>
            <a:pathLst>
              <a:path h="2633003" w="9985144">
                <a:moveTo>
                  <a:pt x="0" y="0"/>
                </a:moveTo>
                <a:lnTo>
                  <a:pt x="9985144" y="0"/>
                </a:lnTo>
                <a:lnTo>
                  <a:pt x="9985144" y="2633004"/>
                </a:lnTo>
                <a:lnTo>
                  <a:pt x="0" y="263300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4575" t="-8941" r="-332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75077" y="4461789"/>
            <a:ext cx="6940338" cy="4415511"/>
          </a:xfrm>
          <a:custGeom>
            <a:avLst/>
            <a:gdLst/>
            <a:ahLst/>
            <a:cxnLst/>
            <a:rect r="r" b="b" t="t" l="l"/>
            <a:pathLst>
              <a:path h="4415511" w="6940338">
                <a:moveTo>
                  <a:pt x="0" y="0"/>
                </a:moveTo>
                <a:lnTo>
                  <a:pt x="6940337" y="0"/>
                </a:lnTo>
                <a:lnTo>
                  <a:pt x="6940337" y="4415511"/>
                </a:lnTo>
                <a:lnTo>
                  <a:pt x="0" y="44155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65296" y="5621250"/>
            <a:ext cx="5227320" cy="283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2799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너무 낮은 재현율</a:t>
            </a:r>
          </a:p>
          <a:p>
            <a:pPr algn="l">
              <a:lnSpc>
                <a:spcPts val="3197"/>
              </a:lnSpc>
            </a:pPr>
          </a:p>
          <a:p>
            <a:pPr algn="l">
              <a:lnSpc>
                <a:spcPts val="3199"/>
              </a:lnSpc>
            </a:pPr>
            <a:r>
              <a:rPr lang="en-US" sz="2799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객체를 많이 놓치는 상황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7"/>
              </a:lnSpc>
            </a:pPr>
            <a:r>
              <a:rPr lang="en-US" sz="2799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데이터 보강 및 증강</a:t>
            </a:r>
          </a:p>
          <a:p>
            <a:pPr algn="l">
              <a:lnSpc>
                <a:spcPts val="3197"/>
              </a:lnSpc>
            </a:pPr>
          </a:p>
          <a:p>
            <a:pPr algn="l">
              <a:lnSpc>
                <a:spcPts val="3199"/>
              </a:lnSpc>
            </a:pPr>
            <a:r>
              <a:rPr lang="en-US" sz="2799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•팀원간 룰을 정한 라벨링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5" id="15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91000" y="266700"/>
            <a:ext cx="8610600" cy="1143000"/>
            <a:chOff x="0" y="0"/>
            <a:chExt cx="114808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8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480800" cy="1571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데이터셋 보강 및 추가 라벨링 후 모델 성능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769986" y="2057576"/>
            <a:ext cx="12816827" cy="6596026"/>
          </a:xfrm>
          <a:custGeom>
            <a:avLst/>
            <a:gdLst/>
            <a:ahLst/>
            <a:cxnLst/>
            <a:rect r="r" b="b" t="t" l="l"/>
            <a:pathLst>
              <a:path h="6596026" w="12816827">
                <a:moveTo>
                  <a:pt x="0" y="0"/>
                </a:moveTo>
                <a:lnTo>
                  <a:pt x="12816828" y="0"/>
                </a:lnTo>
                <a:lnTo>
                  <a:pt x="12816828" y="6596026"/>
                </a:lnTo>
                <a:lnTo>
                  <a:pt x="0" y="659602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99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15" id="15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91000" y="266700"/>
            <a:ext cx="8610600" cy="1143000"/>
            <a:chOff x="0" y="0"/>
            <a:chExt cx="114808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8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1480800" cy="160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24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데이터셋 보강 및 추가 라벨링 후 모델 성능 지표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396615" y="2200016"/>
            <a:ext cx="7228570" cy="4111695"/>
          </a:xfrm>
          <a:custGeom>
            <a:avLst/>
            <a:gdLst/>
            <a:ahLst/>
            <a:cxnLst/>
            <a:rect r="r" b="b" t="t" l="l"/>
            <a:pathLst>
              <a:path h="4111695" w="7228570">
                <a:moveTo>
                  <a:pt x="0" y="0"/>
                </a:moveTo>
                <a:lnTo>
                  <a:pt x="7228570" y="0"/>
                </a:lnTo>
                <a:lnTo>
                  <a:pt x="7228570" y="4111695"/>
                </a:lnTo>
                <a:lnTo>
                  <a:pt x="0" y="411169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994" t="-7434" r="0" b="-6832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44440" y="1522095"/>
            <a:ext cx="271272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 평균 (all class)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44440" y="6915293"/>
            <a:ext cx="11932920" cy="168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1) 데이터가 늘어나면서 모델이 더 많은 객체를 정확히 인식하게 되었고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2) 특히 R(재현율)과 mAP50-95(종합성능)이 뚜렷하게 좋아졌습니다.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3) 전체 mAP50-95가 0.695 → 0.797로 상승 → 약 14.7% 성능 향상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22" id="22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810000" y="190500"/>
            <a:ext cx="8610600" cy="1143000"/>
            <a:chOff x="0" y="0"/>
            <a:chExt cx="114808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8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1480800" cy="160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24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데이터셋 보강 및 추가 라벨링 후 모델 성능 지표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053840" y="1445895"/>
            <a:ext cx="271272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클래스별 세부 비교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77640" y="7019924"/>
            <a:ext cx="11932920" cy="135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1) 전반적인 탐지 정확도와 재현율이 모두 상승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2) 특히 fork, chopstick, bottle_cap 등 데이터 수가 적거나 난이도 높은 클래스에서 큰 개선이 있었음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3923156" y="1952094"/>
            <a:ext cx="10492011" cy="4867806"/>
            <a:chOff x="0" y="0"/>
            <a:chExt cx="13989348" cy="64904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989304" cy="6490462"/>
            </a:xfrm>
            <a:custGeom>
              <a:avLst/>
              <a:gdLst/>
              <a:ahLst/>
              <a:cxnLst/>
              <a:rect r="r" b="b" t="t" l="l"/>
              <a:pathLst>
                <a:path h="6490462" w="13989304">
                  <a:moveTo>
                    <a:pt x="0" y="0"/>
                  </a:moveTo>
                  <a:lnTo>
                    <a:pt x="13989304" y="0"/>
                  </a:lnTo>
                  <a:lnTo>
                    <a:pt x="13989304" y="6490462"/>
                  </a:lnTo>
                  <a:lnTo>
                    <a:pt x="0" y="6490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569440" y="1693545"/>
            <a:ext cx="3627120" cy="51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00">
                <a:solidFill>
                  <a:srgbClr val="10101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b="true" sz="2400">
                <a:solidFill>
                  <a:srgbClr val="1010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데이터 증가 효과</a:t>
            </a:r>
          </a:p>
          <a:p>
            <a:pPr algn="l">
              <a:lnSpc>
                <a:spcPts val="3199"/>
              </a:lnSpc>
            </a:pPr>
            <a:r>
              <a:rPr lang="en-US" b="true" sz="2400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-&gt;학습 데이터가 약</a:t>
            </a:r>
          </a:p>
          <a:p>
            <a:pPr algn="l">
              <a:lnSpc>
                <a:spcPts val="3199"/>
              </a:lnSpc>
            </a:pPr>
            <a:r>
              <a:rPr lang="en-US" b="true" sz="2400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   1.5배로 증가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9"/>
              </a:lnSpc>
            </a:pPr>
            <a:r>
              <a:rPr lang="en-US" sz="2799">
                <a:solidFill>
                  <a:srgbClr val="10101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정밀도(Box(P))</a:t>
            </a:r>
          </a:p>
          <a:p>
            <a:pPr algn="l">
              <a:lnSpc>
                <a:spcPts val="319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-&gt;전반적으로 향상됨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9"/>
              </a:lnSpc>
            </a:pPr>
            <a:r>
              <a:rPr lang="en-US" sz="2799">
                <a:solidFill>
                  <a:srgbClr val="10101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b="true" sz="2799">
                <a:solidFill>
                  <a:srgbClr val="1010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재현율(R)</a:t>
            </a:r>
          </a:p>
          <a:p>
            <a:pPr algn="l">
              <a:lnSpc>
                <a:spcPts val="3199"/>
              </a:lnSpc>
            </a:pPr>
            <a:r>
              <a:rPr lang="en-US" b="true" sz="2799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 -&gt; 평균 +9.6% 증가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9"/>
              </a:lnSpc>
            </a:pPr>
            <a:r>
              <a:rPr lang="en-US" sz="2000">
                <a:solidFill>
                  <a:srgbClr val="10101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b="true" sz="2000">
                <a:solidFill>
                  <a:srgbClr val="1010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개선된 클래스</a:t>
            </a:r>
          </a:p>
          <a:p>
            <a:pPr algn="l">
              <a:lnSpc>
                <a:spcPts val="3199"/>
              </a:lnSpc>
            </a:pPr>
            <a:r>
              <a:rPr lang="en-US" b="true" sz="2000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-&gt;chopstick, fork, bottle_cap</a:t>
            </a:r>
          </a:p>
          <a:p>
            <a:pPr algn="l">
              <a:lnSpc>
                <a:spcPts val="3199"/>
              </a:lnSpc>
            </a:pPr>
            <a:r>
              <a:rPr lang="en-US" b="true" sz="2000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  (약했던 클래스들이 향상됨)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22" id="22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038600" y="190500"/>
            <a:ext cx="8610600" cy="1143000"/>
            <a:chOff x="0" y="0"/>
            <a:chExt cx="114808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8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480800" cy="1571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Xavier 실시간 추론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724400" y="6521324"/>
            <a:ext cx="12847320" cy="12129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199"/>
              </a:lnSpc>
              <a:defRPr/>
            </a:pPr>
            <a:r>
              <a:rPr 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• </a:t>
            </a:r>
            <a:r>
              <a:rPr lang="ko-KR" alt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카메라 </a:t>
            </a:r>
            <a:r>
              <a:rPr lang="en-US" altLang="ko-KR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-&gt;</a:t>
            </a:r>
            <a:r>
              <a:rPr lang="ko-KR" alt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GStreamer</a:t>
            </a:r>
            <a:r>
              <a:rPr lang="ko-KR" alt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파이프라인 </a:t>
            </a:r>
            <a:r>
              <a:rPr lang="en-US" altLang="ko-KR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-&gt;</a:t>
            </a:r>
            <a:r>
              <a:rPr lang="ko-KR" alt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YOLOv11s</a:t>
            </a:r>
            <a:endParaRPr lang="en-US" altLang="ko-KR" sz="2000" b="1">
              <a:solidFill>
                <a:srgbClr val="10101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lvl="0" algn="l">
              <a:lnSpc>
                <a:spcPts val="3199"/>
              </a:lnSpc>
              <a:defRPr/>
            </a:pPr>
            <a:endParaRPr lang="en-US" sz="2000">
              <a:solidFill>
                <a:srgbClr val="101010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 algn="l">
              <a:lnSpc>
                <a:spcPts val="3199"/>
              </a:lnSpc>
              <a:defRPr/>
            </a:pPr>
            <a:r>
              <a:rPr lang="en-US" sz="2000">
                <a:solidFill>
                  <a:srgbClr val="101010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altLang="ko-KR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TensorRT</a:t>
            </a:r>
            <a:r>
              <a:rPr lang="ko-KR" alt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를 이용해 엔진을 사용 </a:t>
            </a:r>
            <a:r>
              <a:rPr lang="en-US" sz="2000" b="1">
                <a:solidFill>
                  <a:srgbClr val="101010"/>
                </a:solidFill>
                <a:latin typeface="Arimo Bold"/>
                <a:ea typeface="Arimo Bold"/>
                <a:cs typeface="Arimo Bold"/>
                <a:sym typeface="Arimo Bold"/>
              </a:rPr>
              <a:t>프레임 단위15~16 정도 나옴.</a:t>
            </a:r>
            <a:endParaRPr lang="en-US" sz="2000">
              <a:solidFill>
                <a:srgbClr val="101010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114799" y="1257300"/>
            <a:ext cx="6908146" cy="38862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972800" y="1242643"/>
            <a:ext cx="6934200" cy="39008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08170" cy="12700"/>
            </a:xfrm>
            <a:custGeom>
              <a:avLst/>
              <a:gdLst/>
              <a:rect l="l" t="t" r="r" b="b"/>
              <a:pathLst>
                <a:path w="17108170" h="1270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3652123" cy="10503991"/>
          </a:xfrm>
          <a:custGeom>
            <a:avLst/>
            <a:gdLst/>
            <a:rect l="l" t="t" r="r" b="b"/>
            <a:pathLst>
              <a:path w="3652123" h="10503991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87426" y="9182100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160"/>
              </a:lnSpc>
              <a:defRPr/>
            </a:pPr>
            <a:r>
              <a:rPr lang="en-US" sz="1399" b="1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  <a:endParaRPr lang="en-US" sz="1399" b="1" spc="232">
              <a:solidFill>
                <a:srgbClr val="5371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09043" y="2200016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21985" y="72317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302"/>
              </a:lnSpc>
              <a:defRPr/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  <a:endParaRPr lang="en-US" sz="1599" spc="127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42398" y="2670229"/>
            <a:ext cx="2333728" cy="2729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09043" y="6723561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42398" y="7203298"/>
            <a:ext cx="2333728" cy="27382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38200" y="7830017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71555" y="8309753"/>
            <a:ext cx="2333728" cy="2722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09043" y="3330902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42398" y="3812006"/>
            <a:ext cx="2333728" cy="2742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9043" y="5592675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1648" cy="231648"/>
            </a:xfrm>
            <a:custGeom>
              <a:avLst/>
              <a:gdLst/>
              <a:rect l="l" t="t" r="r" b="b"/>
              <a:pathLst>
                <a:path w="231648" h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42398" y="6080571"/>
            <a:ext cx="2333728" cy="2726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  <a:endParaRPr lang="en-US" sz="1800">
              <a:solidFill>
                <a:srgbClr val="5371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09043" y="4461789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42398" y="4949685"/>
            <a:ext cx="2333728" cy="2700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id="22" name="Freeform 22" descr="EMB0000378c3f3d"/>
            <p:cNvSpPr/>
            <p:nvPr/>
          </p:nvSpPr>
          <p:spPr>
            <a:xfrm>
              <a:off x="0" y="0"/>
              <a:ext cx="1337183" cy="425704"/>
            </a:xfrm>
            <a:custGeom>
              <a:avLst/>
              <a:gdLst/>
              <a:rect l="l" t="t" r="r" b="b"/>
              <a:pathLst>
                <a:path w="1337183" h="425704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r="-820"/>
              </a:stretch>
            </a:blip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8867" cy="401066"/>
            </a:xfrm>
            <a:custGeom>
              <a:avLst/>
              <a:gdLst/>
              <a:rect l="l" t="t" r="r" b="b"/>
              <a:pathLst>
                <a:path w="1348867" h="401066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b="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4038600" y="190500"/>
            <a:ext cx="8610600" cy="1143000"/>
            <a:chOff x="0" y="0"/>
            <a:chExt cx="114808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80800" cy="1524000"/>
            </a:xfrm>
            <a:custGeom>
              <a:avLst/>
              <a:gdLst/>
              <a:rect l="l" t="t" r="r" b="b"/>
              <a:pathLst>
                <a:path w="11480800" h="15240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480800" cy="1571625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l">
                <a:lnSpc>
                  <a:spcPts val="4798"/>
                </a:lnSpc>
                <a:defRPr/>
              </a:pP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텔레그램 봇 알림</a:t>
              </a:r>
              <a:endParaRPr lang="en-US" sz="3600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699730" y="1557301"/>
            <a:ext cx="6781223" cy="3814799"/>
          </a:xfrm>
          <a:prstGeom prst="rect">
            <a:avLst/>
          </a:prstGeom>
        </p:spPr>
      </p:pic>
      <p:sp>
        <p:nvSpPr>
          <p:cNvPr id="30" name="가로 글상자 29"/>
          <p:cNvSpPr txBox="1"/>
          <p:nvPr/>
        </p:nvSpPr>
        <p:spPr>
          <a:xfrm>
            <a:off x="4724400" y="6221730"/>
            <a:ext cx="8305800" cy="11315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300" b="1"/>
              <a:t>-</a:t>
            </a:r>
            <a:r>
              <a:rPr lang="ko-KR" altLang="en-US" sz="2300" b="1"/>
              <a:t>아이의 코와 입이 </a:t>
            </a:r>
            <a:r>
              <a:rPr lang="en-US" altLang="ko-KR" sz="2300" b="1"/>
              <a:t>10</a:t>
            </a:r>
            <a:r>
              <a:rPr lang="ko-KR" altLang="en-US" sz="2300" b="1"/>
              <a:t>초간 감지가 안될시 알림 전송</a:t>
            </a:r>
            <a:endParaRPr lang="ko-KR" altLang="en-US" sz="2300" b="1"/>
          </a:p>
          <a:p>
            <a:pPr lvl="0">
              <a:defRPr/>
            </a:pPr>
            <a:endParaRPr lang="ko-KR" altLang="en-US" sz="2300" b="1"/>
          </a:p>
          <a:p>
            <a:pPr lvl="0">
              <a:defRPr/>
            </a:pPr>
            <a:r>
              <a:rPr lang="en-US" altLang="ko-KR" sz="2300" b="1"/>
              <a:t>-</a:t>
            </a:r>
            <a:r>
              <a:rPr lang="ko-KR" altLang="en-US" sz="2300" b="1"/>
              <a:t>알림이 전송된후 </a:t>
            </a:r>
            <a:r>
              <a:rPr lang="en-US" altLang="ko-KR" sz="2300" b="1"/>
              <a:t>30</a:t>
            </a:r>
            <a:r>
              <a:rPr lang="ko-KR" altLang="en-US" sz="2300" b="1"/>
              <a:t>초의 쿨타임을 두고 계속 알림 전송</a:t>
            </a:r>
            <a:endParaRPr lang="ko-KR" altLang="en-US" sz="2300" b="1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1734800" y="1485900"/>
            <a:ext cx="6179343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24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08170" cy="12700"/>
            </a:xfrm>
            <a:custGeom>
              <a:avLst/>
              <a:gdLst/>
              <a:rect l="l" t="t" r="r" b="b"/>
              <a:pathLst>
                <a:path w="17108170" h="1270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3269834" y="6137914"/>
            <a:ext cx="173797" cy="173797"/>
            <a:chOff x="0" y="0"/>
            <a:chExt cx="231729" cy="2317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1648" cy="231648"/>
            </a:xfrm>
            <a:custGeom>
              <a:avLst/>
              <a:gdLst/>
              <a:rect l="l" t="t" r="r" b="b"/>
              <a:pathLst>
                <a:path w="231648" h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id="22" name="Freeform 22" descr="EMB0000378c3f3d"/>
            <p:cNvSpPr/>
            <p:nvPr/>
          </p:nvSpPr>
          <p:spPr>
            <a:xfrm>
              <a:off x="0" y="0"/>
              <a:ext cx="1337183" cy="425704"/>
            </a:xfrm>
            <a:custGeom>
              <a:avLst/>
              <a:gdLst/>
              <a:rect l="l" t="t" r="r" b="b"/>
              <a:pathLst>
                <a:path w="1337183" h="425704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/>
              <a:stretch>
                <a:fillRect r="-820"/>
              </a:stretch>
            </a:blip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8867" cy="401066"/>
            </a:xfrm>
            <a:custGeom>
              <a:avLst/>
              <a:gdLst/>
              <a:rect l="l" t="t" r="r" b="b"/>
              <a:pathLst>
                <a:path w="1348867" h="401066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/>
              <a:stretch>
                <a:fillRect b="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4038600" y="190500"/>
            <a:ext cx="8610600" cy="1143000"/>
            <a:chOff x="0" y="0"/>
            <a:chExt cx="114808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80800" cy="1524000"/>
            </a:xfrm>
            <a:custGeom>
              <a:avLst/>
              <a:gdLst/>
              <a:rect l="l" t="t" r="r" b="b"/>
              <a:pathLst>
                <a:path w="11480800" h="1524000">
                  <a:moveTo>
                    <a:pt x="0" y="0"/>
                  </a:moveTo>
                  <a:lnTo>
                    <a:pt x="11480800" y="0"/>
                  </a:lnTo>
                  <a:lnTo>
                    <a:pt x="1148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480800" cy="1571625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l">
                <a:lnSpc>
                  <a:spcPts val="4798"/>
                </a:lnSpc>
                <a:defRPr/>
              </a:pPr>
              <a:r>
                <a:rPr lang="en-US" sz="3600">
                  <a:solidFill>
                    <a:srgbClr val="12127d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텔레그램 봇 알림</a:t>
              </a:r>
              <a:endParaRPr lang="en-US" sz="3600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653208" y="1485900"/>
            <a:ext cx="6772692" cy="3810000"/>
          </a:xfrm>
          <a:prstGeom prst="rect">
            <a:avLst/>
          </a:prstGeom>
        </p:spPr>
      </p:pic>
      <p:sp>
        <p:nvSpPr>
          <p:cNvPr id="30" name="가로 글상자 29"/>
          <p:cNvSpPr txBox="1"/>
          <p:nvPr/>
        </p:nvSpPr>
        <p:spPr>
          <a:xfrm>
            <a:off x="4648200" y="5981700"/>
            <a:ext cx="8610600" cy="11315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300" b="1"/>
              <a:t>-</a:t>
            </a:r>
            <a:r>
              <a:rPr lang="ko-KR" altLang="en-US" sz="2300" b="1"/>
              <a:t> 아이가 위험 물건과 접근시 </a:t>
            </a:r>
            <a:r>
              <a:rPr lang="en-US" altLang="ko-KR" sz="2300" b="1"/>
              <a:t>2</a:t>
            </a:r>
            <a:r>
              <a:rPr lang="ko-KR" altLang="en-US" sz="2300" b="1"/>
              <a:t>초 후 즉각 알림 전송</a:t>
            </a:r>
            <a:endParaRPr lang="ko-KR" altLang="en-US" sz="2300" b="1"/>
          </a:p>
          <a:p>
            <a:pPr lvl="0">
              <a:defRPr/>
            </a:pPr>
            <a:endParaRPr lang="ko-KR" altLang="en-US" sz="2300" b="1"/>
          </a:p>
          <a:p>
            <a:pPr lvl="0">
              <a:defRPr/>
            </a:pPr>
            <a:r>
              <a:rPr lang="en-US" altLang="ko-KR" sz="2300" b="1"/>
              <a:t>-</a:t>
            </a:r>
            <a:r>
              <a:rPr lang="ko-KR" altLang="en-US" sz="2300" b="1"/>
              <a:t>알림이 전송된후 </a:t>
            </a:r>
            <a:r>
              <a:rPr lang="en-US" altLang="ko-KR" sz="2300" b="1"/>
              <a:t>30</a:t>
            </a:r>
            <a:r>
              <a:rPr lang="ko-KR" altLang="en-US" sz="2300" b="1"/>
              <a:t>초의 쿨타임을 두고 계속 알림 전송</a:t>
            </a:r>
            <a:endParaRPr lang="ko-KR" altLang="en-US" sz="2300" b="1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1506200" y="1485900"/>
            <a:ext cx="6324600" cy="381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테스트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38200" y="7830017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269834" y="7268800"/>
            <a:ext cx="173797" cy="173797"/>
            <a:chOff x="0" y="0"/>
            <a:chExt cx="231729" cy="2317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2398" y="7203298"/>
            <a:ext cx="195800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name="Freeform 23" id="23" descr="EMB0000378c3f3d"/>
            <p:cNvSpPr/>
            <p:nvPr/>
          </p:nvSpPr>
          <p:spPr>
            <a:xfrm flipH="false" flipV="false" rot="0">
              <a:off x="0" y="0"/>
              <a:ext cx="1337183" cy="425704"/>
            </a:xfrm>
            <a:custGeom>
              <a:avLst/>
              <a:gdLst/>
              <a:ahLst/>
              <a:cxnLst/>
              <a:rect r="r" b="b" t="t" l="l"/>
              <a:pathLst>
                <a:path h="425704" w="1337183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817" b="-3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8867" cy="401066"/>
            </a:xfrm>
            <a:custGeom>
              <a:avLst/>
              <a:gdLst/>
              <a:ahLst/>
              <a:cxnLst/>
              <a:rect r="r" b="b" t="t" l="l"/>
              <a:pathLst>
                <a:path h="401066" w="1348867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10"/>
              </a:stretch>
            </a:blipFill>
          </p:spPr>
        </p:sp>
      </p:grp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648200" y="1767282"/>
            <a:ext cx="6001597" cy="3376217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1201400" y="1671309"/>
            <a:ext cx="6172200" cy="3472191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675046" y="5443566"/>
            <a:ext cx="5992954" cy="3371355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1201400" y="5328909"/>
            <a:ext cx="6036746" cy="3395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>
        <p:fade/>
      </p:transition>
    </mc:Choice>
    <mc:Fallback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08170" cy="12700"/>
            </a:xfrm>
            <a:custGeom>
              <a:avLst/>
              <a:gdLst/>
              <a:rect l="l" t="t" r="r" b="b"/>
              <a:pathLst>
                <a:path w="17108170" h="1270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3652123" cy="10503991"/>
          </a:xfrm>
          <a:custGeom>
            <a:avLst/>
            <a:gdLst/>
            <a:rect l="l" t="t" r="r" b="b"/>
            <a:pathLst>
              <a:path w="3652123" h="10503991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032636" y="1070265"/>
            <a:ext cx="8222728" cy="6061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799"/>
              </a:lnSpc>
              <a:defRPr/>
            </a:pPr>
            <a:r>
              <a:rPr lang="en-US" altLang="ko-KR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Github </a:t>
            </a: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주소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87426" y="9182100"/>
            <a:ext cx="3085098" cy="342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160"/>
              </a:lnSpc>
              <a:defRPr/>
            </a:pPr>
            <a:r>
              <a:rPr lang="en-US" sz="1399" b="1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  <a:endParaRPr lang="en-US" sz="1399" b="1" spc="232">
              <a:solidFill>
                <a:srgbClr val="5371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09043" y="2200016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21985" y="723174"/>
            <a:ext cx="1946101" cy="3436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302"/>
              </a:lnSpc>
              <a:defRPr/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  <a:endParaRPr lang="en-US" sz="1599" spc="127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2398" y="2670229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809043" y="3330902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42398" y="3812006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09043" y="4461789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42398" y="4949685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09043" y="5592675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42398" y="6080571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38200" y="7822108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09043" y="6723561"/>
            <a:ext cx="3257588" cy="1047283"/>
          </a:xfrm>
          <a:custGeom>
            <a:avLst/>
            <a:gdLst/>
            <a:rect l="l" t="t" r="r" b="b"/>
            <a:pathLst>
              <a:path w="3257588" h="1047283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42398" y="7203298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  <a:endParaRPr lang="en-US"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71555" y="8309754"/>
            <a:ext cx="2333728" cy="29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160"/>
              </a:lnSpc>
              <a:defRPr/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  <a:endParaRPr lang="en-US" sz="1800">
              <a:solidFill>
                <a:srgbClr val="5371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3255203" y="8343900"/>
            <a:ext cx="173797" cy="173797"/>
            <a:chOff x="0" y="0"/>
            <a:chExt cx="231729" cy="2317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1648" cy="231648"/>
            </a:xfrm>
            <a:custGeom>
              <a:avLst/>
              <a:gdLst/>
              <a:rect l="l" t="t" r="r" b="b"/>
              <a:pathLst>
                <a:path w="231648" h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id="23" name="Freeform 23" descr="EMB0000378c3f3d"/>
            <p:cNvSpPr/>
            <p:nvPr/>
          </p:nvSpPr>
          <p:spPr>
            <a:xfrm>
              <a:off x="0" y="0"/>
              <a:ext cx="1337183" cy="425704"/>
            </a:xfrm>
            <a:custGeom>
              <a:avLst/>
              <a:gdLst/>
              <a:rect l="l" t="t" r="r" b="b"/>
              <a:pathLst>
                <a:path w="1337183" h="425704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r="-820"/>
              </a:stretch>
            </a:blip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8867" cy="401066"/>
            </a:xfrm>
            <a:custGeom>
              <a:avLst/>
              <a:gdLst/>
              <a:rect l="l" t="t" r="r" b="b"/>
              <a:pathLst>
                <a:path w="1348867" h="401066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b="10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6096000" y="4867275"/>
            <a:ext cx="9247212" cy="2762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160"/>
              </a:lnSpc>
              <a:spcBef>
                <a:spcPct val="0"/>
              </a:spcBef>
              <a:defRPr/>
            </a:pPr>
            <a:r>
              <a:rPr lang="en-US" sz="3400" b="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1" tooltip="https://github.com/Kim-gami/i_care_project"/>
              </a:rPr>
              <a:t>https://github.com/Kim-gami/i_care_project</a:t>
            </a:r>
            <a:endParaRPr lang="en-US" sz="3400" b="1" u="sng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6248400" y="5676900"/>
            <a:ext cx="8839200" cy="43624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300" b="1"/>
              <a:t>-i_care</a:t>
            </a:r>
            <a:r>
              <a:rPr lang="ko-KR" altLang="en-US" sz="2300" b="1"/>
              <a:t> 폴더 내의 </a:t>
            </a:r>
            <a:r>
              <a:rPr lang="en-US" altLang="ko-KR" sz="2300" b="1"/>
              <a:t>README</a:t>
            </a:r>
            <a:r>
              <a:rPr lang="ko-KR" altLang="en-US" sz="2300" b="1"/>
              <a:t> 참조</a:t>
            </a:r>
            <a:endParaRPr lang="ko-KR" altLang="en-US" sz="2300" b="1"/>
          </a:p>
        </p:txBody>
      </p:sp>
    </p:spTree>
    <p:extLst>
      <p:ext uri="{BB962C8B-B14F-4D97-AF65-F5344CB8AC3E}">
        <p14:creationId xmlns:p14="http://schemas.microsoft.com/office/powerpoint/2010/main" val="2575477024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755696" y="8957716"/>
            <a:ext cx="12831117" cy="9525"/>
            <a:chOff x="0" y="0"/>
            <a:chExt cx="17108156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08170" cy="12700"/>
            </a:xfrm>
            <a:custGeom>
              <a:avLst/>
              <a:gdLst/>
              <a:rect l="l" t="t" r="r" b="b"/>
              <a:pathLst>
                <a:path w="17108170" h="1270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3652123" cy="10503991"/>
          </a:xfrm>
          <a:custGeom>
            <a:avLst/>
            <a:gdLst/>
            <a:ahLst/>
            <a:cxnLst/>
            <a:rect r="r" b="b" t="t" l="l"/>
            <a:pathLst>
              <a:path h="10503991" w="3652123">
                <a:moveTo>
                  <a:pt x="0" y="0"/>
                </a:moveTo>
                <a:lnTo>
                  <a:pt x="3652123" y="0"/>
                </a:lnTo>
                <a:lnTo>
                  <a:pt x="3652123" y="10503991"/>
                </a:lnTo>
                <a:lnTo>
                  <a:pt x="0" y="1050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32636" y="1070265"/>
            <a:ext cx="822272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개별 평가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87426" y="9182100"/>
            <a:ext cx="308509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399" spc="232">
                <a:solidFill>
                  <a:srgbClr val="5371FF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9043" y="2200016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1985" y="723174"/>
            <a:ext cx="1946101" cy="34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599" spc="1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 - 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398" y="2670229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9043" y="3330902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398" y="3812006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팀 구성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9043" y="4461789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2398" y="4949685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절차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9043" y="5592675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2398" y="6080571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프로젝트 수행 경과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38200" y="7822108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9043" y="6723561"/>
            <a:ext cx="3257588" cy="1047283"/>
          </a:xfrm>
          <a:custGeom>
            <a:avLst/>
            <a:gdLst/>
            <a:ahLst/>
            <a:cxnLst/>
            <a:rect r="r" b="b" t="t" l="l"/>
            <a:pathLst>
              <a:path h="1047283" w="3257588">
                <a:moveTo>
                  <a:pt x="0" y="0"/>
                </a:moveTo>
                <a:lnTo>
                  <a:pt x="3257588" y="0"/>
                </a:lnTo>
                <a:lnTo>
                  <a:pt x="3257588" y="1047283"/>
                </a:lnTo>
                <a:lnTo>
                  <a:pt x="0" y="1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2398" y="7203298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테스트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55" y="8309754"/>
            <a:ext cx="23337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371FF"/>
                </a:solidFill>
                <a:latin typeface="Arimo"/>
                <a:ea typeface="Arimo"/>
                <a:cs typeface="Arimo"/>
                <a:sym typeface="Arimo"/>
              </a:rPr>
              <a:t>자체 평가 의견</a:t>
            </a:r>
          </a:p>
        </p:txBody>
      </p:sp>
      <p:grpSp>
        <p:nvGrpSpPr>
          <p:cNvPr id="20" name="Group 20"/>
          <p:cNvGrpSpPr/>
          <p:nvPr/>
        </p:nvGrpSpPr>
        <p:grpSpPr>
          <a:xfrm rot="0">
            <a:off x="3255203" y="8343900"/>
            <a:ext cx="173797" cy="173797"/>
            <a:chOff x="0" y="0"/>
            <a:chExt cx="231729" cy="2317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1648" cy="231648"/>
            </a:xfrm>
            <a:custGeom>
              <a:avLst/>
              <a:gdLst/>
              <a:rect l="l" t="t" r="r" b="b"/>
              <a:pathLst>
                <a:path w="231648" h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 rot="0">
            <a:off x="14076038" y="9258300"/>
            <a:ext cx="1002918" cy="319289"/>
            <a:chOff x="0" y="0"/>
            <a:chExt cx="1337224" cy="425719"/>
          </a:xfrm>
        </p:grpSpPr>
        <p:sp>
          <p:nvSpPr>
            <p:cNvPr id="23" name="Freeform 23" descr="EMB0000378c3f3d"/>
            <p:cNvSpPr/>
            <p:nvPr/>
          </p:nvSpPr>
          <p:spPr>
            <a:xfrm>
              <a:off x="0" y="0"/>
              <a:ext cx="1337183" cy="425704"/>
            </a:xfrm>
            <a:custGeom>
              <a:avLst/>
              <a:gdLst/>
              <a:rect l="l" t="t" r="r" b="b"/>
              <a:pathLst>
                <a:path w="1337183" h="425704">
                  <a:moveTo>
                    <a:pt x="0" y="0"/>
                  </a:moveTo>
                  <a:lnTo>
                    <a:pt x="1337183" y="0"/>
                  </a:lnTo>
                  <a:lnTo>
                    <a:pt x="1337183" y="425704"/>
                  </a:lnTo>
                  <a:lnTo>
                    <a:pt x="0" y="4257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/>
              <a:stretch>
                <a:fillRect r="-820"/>
              </a:stretch>
            </a:blip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 rot="0">
            <a:off x="12801600" y="9258300"/>
            <a:ext cx="1011674" cy="300768"/>
            <a:chOff x="0" y="0"/>
            <a:chExt cx="1348899" cy="401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8867" cy="401066"/>
            </a:xfrm>
            <a:custGeom>
              <a:avLst/>
              <a:gdLst/>
              <a:rect l="l" t="t" r="r" b="b"/>
              <a:pathLst>
                <a:path w="1348867" h="401066">
                  <a:moveTo>
                    <a:pt x="0" y="0"/>
                  </a:moveTo>
                  <a:lnTo>
                    <a:pt x="1348867" y="0"/>
                  </a:lnTo>
                  <a:lnTo>
                    <a:pt x="1348867" y="401066"/>
                  </a:lnTo>
                  <a:lnTo>
                    <a:pt x="0" y="401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/>
              <a:stretch>
                <a:fillRect b="1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53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9833" y="7402098"/>
            <a:ext cx="173797" cy="173797"/>
            <a:chOff x="0" y="0"/>
            <a:chExt cx="231729" cy="231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115824" y="0"/>
                  </a:moveTo>
                  <a:cubicBezTo>
                    <a:pt x="51816" y="0"/>
                    <a:pt x="0" y="51816"/>
                    <a:pt x="0" y="115824"/>
                  </a:cubicBezTo>
                  <a:cubicBezTo>
                    <a:pt x="0" y="179832"/>
                    <a:pt x="51816" y="231648"/>
                    <a:pt x="115824" y="231648"/>
                  </a:cubicBezTo>
                  <a:cubicBezTo>
                    <a:pt x="179832" y="231648"/>
                    <a:pt x="231648" y="179832"/>
                    <a:pt x="231648" y="115824"/>
                  </a:cubicBezTo>
                  <a:cubicBezTo>
                    <a:pt x="231648" y="51816"/>
                    <a:pt x="179832" y="0"/>
                    <a:pt x="115824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28440" y="5980088"/>
            <a:ext cx="12831117" cy="9525"/>
            <a:chOff x="0" y="0"/>
            <a:chExt cx="17108156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08170" cy="12700"/>
            </a:xfrm>
            <a:custGeom>
              <a:avLst/>
              <a:gdLst/>
              <a:ahLst/>
              <a:cxnLst/>
              <a:rect r="r" b="b" t="t" l="l"/>
              <a:pathLst>
                <a:path h="12700" w="17108170">
                  <a:moveTo>
                    <a:pt x="6350" y="0"/>
                  </a:moveTo>
                  <a:lnTo>
                    <a:pt x="17101820" y="0"/>
                  </a:lnTo>
                  <a:cubicBezTo>
                    <a:pt x="17105376" y="0"/>
                    <a:pt x="17108170" y="2794"/>
                    <a:pt x="17108170" y="6350"/>
                  </a:cubicBezTo>
                  <a:cubicBezTo>
                    <a:pt x="17108170" y="9906"/>
                    <a:pt x="17105376" y="12700"/>
                    <a:pt x="171018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16079" y="3448345"/>
            <a:ext cx="1055841" cy="693015"/>
            <a:chOff x="0" y="0"/>
            <a:chExt cx="1407788" cy="924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7795" cy="924052"/>
            </a:xfrm>
            <a:custGeom>
              <a:avLst/>
              <a:gdLst/>
              <a:ahLst/>
              <a:cxnLst/>
              <a:rect r="r" b="b" t="t" l="l"/>
              <a:pathLst>
                <a:path h="924052" w="1407795">
                  <a:moveTo>
                    <a:pt x="0" y="0"/>
                  </a:moveTo>
                  <a:lnTo>
                    <a:pt x="1407795" y="0"/>
                  </a:lnTo>
                  <a:lnTo>
                    <a:pt x="1407795" y="924052"/>
                  </a:lnTo>
                  <a:lnTo>
                    <a:pt x="0" y="924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21701" y="4727575"/>
            <a:ext cx="604459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 b="true">
                <a:solidFill>
                  <a:srgbClr val="FFFFFF"/>
                </a:solidFill>
                <a:latin typeface="Arita Dotum Bold"/>
                <a:ea typeface="Arita Dotum Bold"/>
                <a:cs typeface="Arita Dotum Bold"/>
                <a:sym typeface="Arita Dotum Bold"/>
              </a:rPr>
              <a:t>경청해 주셔서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83</ep:Words>
  <ep:PresentationFormat>On-screen Show (4:3)</ep:PresentationFormat>
  <ep:Paragraphs>25</ep:Paragraphs>
  <ep:Slides>26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INO05</cp:lastModifiedBy>
  <dcterms:modified xsi:type="dcterms:W3CDTF">2025-10-22T00:52:47.023</dcterms:modified>
  <cp:revision>15</cp:revision>
  <dc:title>사전계획서_3조_수정(아이케어).pptx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